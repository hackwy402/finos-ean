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A651"/>
              </a:gs>
              <a:gs pos="100000">
                <a:srgbClr val="003DA5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Sesión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Fundamentos de FinOps y visibilidad de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Qué es FinOps, por qué la nube cambió el modelo de costos, y cómo ver el gasto en Azure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No puedes optimizar lo que no ves: el punto de partida es la visibilidad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Jawy Andrés Romero Pinto   ·  Curso 88-EAN · Universidad Ean · Educación Continua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06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2 horas  ·  Plataforma: Microsoft Azure (cuentas Azure for Students)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Agenda de la sesión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Del modelo de costos de la nube a ver tu gasto en Azure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481328"/>
            <a:ext cx="566928" cy="566928"/>
          </a:xfrm>
          <a:prstGeom prst="ellipse">
            <a:avLst/>
          </a:prstGeom>
          <a:solidFill>
            <a:srgbClr val="B0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¿?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44475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Por qué la nube cambió el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75564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De CapEx a OpEx: gasto variable y descentralizado.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304288"/>
            <a:ext cx="566928" cy="566928"/>
          </a:xfrm>
          <a:prstGeom prst="ellipse">
            <a:avLst/>
          </a:prstGeom>
          <a:solidFill>
            <a:srgbClr val="17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6771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Qué es (y qué no es) FinOps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57860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Cultura + práctica para maximizar el valor por cada peso.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127248"/>
            <a:ext cx="566928" cy="566928"/>
          </a:xfrm>
          <a:prstGeom prst="ellipse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CICLO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09067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El FinOps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40156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Informar → Optimizar → Operar, y quién colabora.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950208"/>
            <a:ext cx="566928" cy="566928"/>
          </a:xfrm>
          <a:prstGeom prst="ellipse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AZ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1363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Facturación de 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22452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Jerarquía de cuentas y cómo se cobra el consumo.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773168"/>
            <a:ext cx="566928" cy="566928"/>
          </a:xfrm>
          <a:prstGeom prst="ellipse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73659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Cost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04748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La herramienta para ver y analizar el gasto.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596128"/>
            <a:ext cx="566928" cy="566928"/>
          </a:xfrm>
          <a:prstGeom prst="ellipse">
            <a:avLst/>
          </a:prstGeom>
          <a:solidFill>
            <a:srgbClr val="6B1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55955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Laboratorio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87044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Activas tu cuenta, exploras costos y estimas con la calculadora.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La nube cambió el modelo de costos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Y por eso hace falta una disciplina nueva: FinOps</a:t>
            </a:r>
          </a:p>
        </p:txBody>
      </p:sp>
      <p:pic>
        <p:nvPicPr>
          <p:cNvPr id="4" name="Picture 3" descr="datacen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783080"/>
            <a:ext cx="4114800" cy="27324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45720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95959"/>
                </a:solidFill>
                <a:latin typeface="Calibri"/>
              </a:rPr>
              <a:t>Data center · Wikimedia Commons · CC BY-SA 3.0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25780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28600" wrap="square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Antes · centro de datos propio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Compras hardware por adelantado (CapEx)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Costo fijo y predecible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Aprovisionar = semanas, con aprobación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Pocas manos deciden el gasto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737360"/>
            <a:ext cx="5257800" cy="2743200"/>
          </a:xfrm>
          <a:prstGeom prst="roundRect">
            <a:avLst>
              <a:gd name="adj" fmla="val 6000"/>
            </a:avLst>
          </a:prstGeom>
          <a:solidFill>
            <a:srgbClr val="E8F4EC"/>
          </a:solidFill>
          <a:ln w="19050">
            <a:solidFill>
              <a:srgbClr val="1E7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28600" wrap="square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E7C3C"/>
                </a:solidFill>
                <a:latin typeface="Calibri"/>
              </a:rPr>
              <a:t>Ahora · nube (Azure)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Pagas por consumo, por hora/segundo (OpEx)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Costo variable: sube y baja con el uso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Aprovisionar = segundos, con un clic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CUALQUIER equipo puede gastar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2962656"/>
            <a:ext cx="384048" cy="292608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09160"/>
            <a:ext cx="6583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3864"/>
                </a:solidFill>
                <a:latin typeface="Calibri"/>
              </a:rPr>
              <a:t>La consecuencia: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El gasto se volvió una decisión de ingeniería en tiempo real, no una compra anual. Sin visibilidad ni cultura de costos, la factura sorprende a fin de 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Qué es FinOps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Financial Operations: llevar responsabilidad financiera a la nube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9966960" cy="137160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457200" wrap="square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1">
                <a:solidFill>
                  <a:srgbClr val="FFFFFF"/>
                </a:solidFill>
                <a:latin typeface="Calibri"/>
              </a:rPr>
              <a:t>«FinOps es una práctica cultural y operativa que maximiza el VALOR de la nube, ayudando a los equipos de ingeniería, finanzas y negocio a colaborar en decisiones de gasto basadas en datos.»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46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— Adaptado de la FinOps Foundation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03320"/>
            <a:ext cx="26974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640080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No es solo TI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Une finanzas, ingeniería y negocio en una misma conversación.</a:t>
            </a:r>
          </a:p>
        </p:txBody>
      </p:sp>
      <p:sp>
        <p:nvSpPr>
          <p:cNvPr id="7" name="Oval 6"/>
          <p:cNvSpPr/>
          <p:nvPr/>
        </p:nvSpPr>
        <p:spPr>
          <a:xfrm>
            <a:off x="1664208" y="3840480"/>
            <a:ext cx="457200" cy="457200"/>
          </a:xfrm>
          <a:prstGeom prst="ellipse">
            <a:avLst/>
          </a:prstGeom>
          <a:solidFill>
            <a:srgbClr val="17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2424" y="3703320"/>
            <a:ext cx="26974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640080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No es un software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Es cultura + proceso; las herramientas ayudan, no reemplazan.</a:t>
            </a:r>
          </a:p>
        </p:txBody>
      </p:sp>
      <p:sp>
        <p:nvSpPr>
          <p:cNvPr id="9" name="Oval 8"/>
          <p:cNvSpPr/>
          <p:nvPr/>
        </p:nvSpPr>
        <p:spPr>
          <a:xfrm>
            <a:off x="4507992" y="3840480"/>
            <a:ext cx="457200" cy="457200"/>
          </a:xfrm>
          <a:prstGeom prst="ellipse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3703320"/>
            <a:ext cx="26974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640080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No es 'recortar'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Es maximizar el valor por peso, no gastar lo mínimo.</a:t>
            </a:r>
          </a:p>
        </p:txBody>
      </p:sp>
      <p:sp>
        <p:nvSpPr>
          <p:cNvPr id="11" name="Oval 10"/>
          <p:cNvSpPr/>
          <p:nvPr/>
        </p:nvSpPr>
        <p:spPr>
          <a:xfrm>
            <a:off x="7351776" y="3840480"/>
            <a:ext cx="457200" cy="457200"/>
          </a:xfrm>
          <a:prstGeom prst="ellipse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9992" y="3703320"/>
            <a:ext cx="26974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640080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Es en tiempo real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Decisiones continuas, no un presupuesto anual congelado.</a:t>
            </a:r>
          </a:p>
        </p:txBody>
      </p:sp>
      <p:sp>
        <p:nvSpPr>
          <p:cNvPr id="13" name="Oval 12"/>
          <p:cNvSpPr/>
          <p:nvPr/>
        </p:nvSpPr>
        <p:spPr>
          <a:xfrm>
            <a:off x="10195560" y="3840480"/>
            <a:ext cx="457200" cy="457200"/>
          </a:xfrm>
          <a:prstGeom prst="ellipse">
            <a:avLst/>
          </a:prstGeom>
          <a:solidFill>
            <a:srgbClr val="6B1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FinOps no es gastar menos: es gastar mejor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La pregunta no es «¿cuánto cuesta?» sino «¿vale lo que cuesta?»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28600" wrap="square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Mentalidad de recorte (limitada)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Meta: bajar la factura a toda costa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Frena proyectos que sí generan valor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Optimiza el costo, ignora el retorno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'Apagar todo' también apaga el negocio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9164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E8F4EC"/>
          </a:solidFill>
          <a:ln w="19050">
            <a:solidFill>
              <a:srgbClr val="1E7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28600" wrap="square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1E7C3C"/>
                </a:solidFill>
                <a:latin typeface="Calibri"/>
              </a:rPr>
              <a:t>Mentalidad FinOps (valor)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Meta: máximo valor de negocio por peso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Invierte donde hay retorno, recorta el desperdicio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Mide costo Y valor (unit economics)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A veces la decisión correcta es gastar MÁS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61888" y="3534156"/>
            <a:ext cx="384048" cy="292608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333333"/>
                </a:solidFill>
                <a:latin typeface="Calibri"/>
              </a:rPr>
              <a:t>Ejemplo: pagar más por una base de datos que sostiene el servicio de pensiones en línea puede ser la decisión correcta; pagar por 20 VMs encendidas sin uso, nunca.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El FinOps Framework: un ciclo continuo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Tres fases que se repiten — no un proyecto con fin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2468880"/>
            <a:ext cx="2377440" cy="1280160"/>
          </a:xfrm>
          <a:prstGeom prst="roundRect">
            <a:avLst>
              <a:gd name="adj" fmla="val 6000"/>
            </a:avLst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INFORMAR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visibilidad, asignación y
benchmarking del gasto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92040" y="2468880"/>
            <a:ext cx="2377440" cy="1280160"/>
          </a:xfrm>
          <a:prstGeom prst="roundRect">
            <a:avLst>
              <a:gd name="adj" fmla="val 6000"/>
            </a:avLst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OPTIMIZAR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rightsizing, eliminar
desperdicio, comprar bien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2468880"/>
            <a:ext cx="2377440" cy="1280160"/>
          </a:xfrm>
          <a:prstGeom prst="roundRect">
            <a:avLst>
              <a:gd name="adj" fmla="val 6000"/>
            </a:avLst>
          </a:prstGeom>
          <a:solidFill>
            <a:srgbClr val="6B1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OPERAR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gobierno, cultura y
mejora continua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03320" y="2962656"/>
            <a:ext cx="1143000" cy="292608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7315200" y="2962656"/>
            <a:ext cx="1143000" cy="292608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eft Arrow 8"/>
          <p:cNvSpPr/>
          <p:nvPr/>
        </p:nvSpPr>
        <p:spPr>
          <a:xfrm>
            <a:off x="2377440" y="4617720"/>
            <a:ext cx="7680960" cy="320040"/>
          </a:xfrm>
          <a:prstGeom prst="leftArrow">
            <a:avLst/>
          </a:prstGeom>
          <a:solidFill>
            <a:srgbClr val="BFC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50292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95959"/>
                </a:solidFill>
                <a:latin typeface="Calibri"/>
              </a:rPr>
              <a:t>…y vuelve a empezar (el gasto nunca deja de cambiar)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333333"/>
                </a:solidFill>
                <a:latin typeface="Calibri"/>
              </a:rPr>
              <a:t>Este curso recorre el ciclo: hoy y la S2 = INFORMAR (ver y asignar); S3–S4 = OPTIMIZAR (presupuestos, rightsizing, compromisos); S5 = OPERAR (gobierno y cultura).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FinOps es un deporte de equipo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Nadie optimiza la nube solo — se necesita colaboración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05840" tIns="91440"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Ingeniería / TI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Quien crea los recursos y puede apagarlos, redimensionarlos u optimizarlos.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1984248"/>
            <a:ext cx="548640" cy="548640"/>
          </a:xfrm>
          <a:prstGeom prst="ellipse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62072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05840" tIns="91440"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Finanzas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Presupuesta, hace forecasting, asigna costos y mide el retorno.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063240"/>
            <a:ext cx="548640" cy="548640"/>
          </a:xfrm>
          <a:prstGeom prst="ellipse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4106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05840" tIns="91440"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Negocio / Liderazgo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Define prioridades y qué valor se espera de cada peso invertido.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42232"/>
            <a:ext cx="548640" cy="548640"/>
          </a:xfrm>
          <a:prstGeom prst="ellipse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2005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05840" tIns="91440"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Práctica FinOps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Facilita: datos, procesos y lenguaje común entre todos.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5221224"/>
            <a:ext cx="548640" cy="548640"/>
          </a:xfrm>
          <a:prstGeom prst="ellipse">
            <a:avLst/>
          </a:prstGeom>
          <a:solidFill>
            <a:srgbClr val="6B1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El lenguaje común: costo por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El número que conecta la factura con 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Un total de factura no dice si vas bien o mal: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«Gastamos $10.000 este mes» — ¿es mucho o poco?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«Gastamos $0,002 por trámite de pensión procesado» — eso SÍ se puede comparar, seguir y mejorar.</a:t>
            </a:r>
          </a:p>
          <a:p>
            <a:pPr algn="l" indent="-137160" marL="182880">
              <a:spcBef>
                <a:spcPts val="0"/>
              </a:spcBef>
              <a:spcAft>
                <a:spcPts val="8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Unit economics = costo cloud ÷ unidad de negocio (por usuario, por transacción, por trámite).</a:t>
            </a:r>
          </a:p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1E7C3C"/>
                </a:solidFill>
                <a:latin typeface="Calibri"/>
              </a:rPr>
              <a:t>Permite crecer el negocio y que el costo unitario BAJE — el objetivo real de FinOps.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920240"/>
            <a:ext cx="4846320" cy="32918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wrap="square"/>
          <a:lstStyle/>
          <a:p>
            <a:pPr algn="ctr">
              <a:spcBef>
                <a:spcPts val="0"/>
              </a:spcBef>
              <a:spcAft>
                <a:spcPts val="1400"/>
              </a:spcAft>
            </a:pPr>
            <a:r>
              <a:rPr sz="1600" b="1" i="0">
                <a:solidFill>
                  <a:srgbClr val="1F3864"/>
                </a:solidFill>
                <a:latin typeface="Calibri"/>
              </a:rPr>
              <a:t>costo por unidad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gasto cloud del mes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──────────────────</a:t>
            </a:r>
          </a:p>
          <a:p>
            <a:pPr algn="ctr">
              <a:spcBef>
                <a:spcPts val="0"/>
              </a:spcBef>
              <a:spcAft>
                <a:spcPts val="16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unidades de negocio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95959"/>
                </a:solidFill>
                <a:latin typeface="Calibri"/>
              </a:rPr>
              <a:t>(trámites, usuarios, transacciones…)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Cómo se organiza la facturación en Azure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La jerarquía que debes conocer para ver y asignar costos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Billing account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La cuenta de facturación (dónde llega la factura)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670048"/>
            <a:ext cx="9601200" cy="777240"/>
          </a:xfrm>
          <a:prstGeom prst="roundRect">
            <a:avLst>
              <a:gd name="adj" fmla="val 6000"/>
            </a:avLst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Subscription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La suscripción: límite de facturación y de acceso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3602736"/>
            <a:ext cx="8321040" cy="777240"/>
          </a:xfrm>
          <a:prstGeom prst="roundRect">
            <a:avLst>
              <a:gd name="adj" fmla="val 6000"/>
            </a:avLst>
          </a:prstGeom>
          <a:solidFill>
            <a:srgbClr val="17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Resource group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Agrupa recursos de un proyecto/carga (¡clave para costos!)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4535424"/>
            <a:ext cx="7040880" cy="777240"/>
          </a:xfrm>
          <a:prstGeom prst="roundRect">
            <a:avLst>
              <a:gd name="adj" fmla="val 6000"/>
            </a:avLst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Resource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El recurso que consume: VM, storage, base de datos…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333333"/>
                </a:solidFill>
                <a:latin typeface="Calibri"/>
              </a:rPr>
              <a:t>Cada recurso hereda su lugar en esta jerarquía. Por eso, organizar bien suscripciones y grupos de recursos —y etiquetar (S2)— es lo que después te deja responder «¿cuánto gastó cada área?».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Cómo se cobra el consumo en Azure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Pago por uso: cada servicio tiene su medidor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Cómputo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VMs: por segundo/hora encendida y por tamaño (vCPU/RAM). Apagada ≠ gratis si reservas disco.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697480" cy="502920"/>
          </a:xfrm>
          <a:prstGeom prst="roundRect">
            <a:avLst>
              <a:gd name="adj" fmla="val 6000"/>
            </a:avLst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Cómputo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92424" y="18288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Almacenamiento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Por GB/mes, por tipo (caliente/frío) y por operaciones. El dato viejo en caliente cuesta de más.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2424" y="1828800"/>
            <a:ext cx="2697480" cy="502920"/>
          </a:xfrm>
          <a:prstGeom prst="roundRect">
            <a:avLst>
              <a:gd name="adj" fmla="val 6000"/>
            </a:avLst>
          </a:prstGeom>
          <a:solidFill>
            <a:srgbClr val="17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8288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Red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La ENTRADA suele ser gratis; la SALIDA de datos (egress) se cobra. Sorpresa común en la factura.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828800"/>
            <a:ext cx="2697480" cy="502920"/>
          </a:xfrm>
          <a:prstGeom prst="roundRect">
            <a:avLst>
              <a:gd name="adj" fmla="val 6000"/>
            </a:avLst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9992" y="18288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Servicios PaaS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Bases de datos, funciones, IA: por transacción, por hora o por consumo. Leer el medidor de cada uno.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9992" y="1828800"/>
            <a:ext cx="2697480" cy="502920"/>
          </a:xfrm>
          <a:prstGeom prst="roundRect">
            <a:avLst>
              <a:gd name="adj" fmla="val 6000"/>
            </a:avLst>
          </a:prstGeom>
          <a:solidFill>
            <a:srgbClr val="6B1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Servicios PaaS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333333"/>
                </a:solidFill>
                <a:latin typeface="Calibri"/>
              </a:rPr>
              <a:t>Regla práctica: para cada recurso pregúntate qué MIDE su factura (tiempo, GB, operaciones, transacciones). Ahí están las palancas de optimización que veremos en la S4.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Azure Cost Management + Billing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La herramienta —gratuita— para ver, analizar y controlar el gasto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Cost Analysis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Explorar el gasto: por servicio, grupo, etiqueta, tiempo. La base de la visibilidad.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606040" cy="502920"/>
          </a:xfrm>
          <a:prstGeom prst="roundRect">
            <a:avLst>
              <a:gd name="adj" fmla="val 6000"/>
            </a:avLst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Budgets y alertas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Poner límites y avisar cuando el gasto se acerca (lo veremos en la S3).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828800"/>
            <a:ext cx="2606040" cy="502920"/>
          </a:xfrm>
          <a:prstGeom prst="roundRect">
            <a:avLst>
              <a:gd name="adj" fmla="val 6000"/>
            </a:avLst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Advisor (costos)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Recomendaciones de ahorro de Azure (rightsizing, recursos ociosos — S4).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606040" cy="502920"/>
          </a:xfrm>
          <a:prstGeom prst="roundRect">
            <a:avLst>
              <a:gd name="adj" fmla="val 6000"/>
            </a:avLst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182880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7724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Exports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Sacar los datos de costo a CSV/Storage para análisis y reportes.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1828800"/>
            <a:ext cx="2606040" cy="502920"/>
          </a:xfrm>
          <a:prstGeom prst="roundRect">
            <a:avLst>
              <a:gd name="adj" fmla="val 6000"/>
            </a:avLst>
          </a:prstGeom>
          <a:solidFill>
            <a:srgbClr val="17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333333"/>
                </a:solidFill>
                <a:latin typeface="Calibri"/>
              </a:rPr>
              <a:t>Cost Management NO cuesta extra: viene con tu suscripción. Es lo primero que abre un practicante de FinOps cada mañana. Hoy en el lab empiezas por Cost Analysis.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Anatomía de la herramienta: Cost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Esquema de la pantalla de Azure — qué es cada botón y panel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704088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7040880" cy="45720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Cost Management  ›  Cost analysis   ·   Suscripción: Azure for Students</a:t>
            </a:r>
          </a:p>
        </p:txBody>
      </p:sp>
      <p:pic>
        <p:nvPicPr>
          <p:cNvPr id="6" name="Picture 5" descr="az-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45920"/>
            <a:ext cx="365760" cy="365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" y="2240280"/>
            <a:ext cx="1600200" cy="3657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864"/>
                </a:solidFill>
                <a:latin typeface="Calibri"/>
              </a:rPr>
              <a:t>Últimos 30 días  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2240280"/>
            <a:ext cx="1600200" cy="3657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864"/>
                </a:solidFill>
                <a:latin typeface="Calibri"/>
              </a:rPr>
              <a:t>Group by: Servicio  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240280"/>
            <a:ext cx="1188720" cy="3657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864"/>
                </a:solidFill>
                <a:latin typeface="Calibri"/>
              </a:rPr>
              <a:t>⤓ Exportar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2240280"/>
            <a:ext cx="1600200" cy="3657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864"/>
                </a:solidFill>
                <a:latin typeface="Calibri"/>
              </a:rPr>
              <a:t>★ Guardar vista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69080"/>
            <a:ext cx="256032" cy="54864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7008" y="3794760"/>
            <a:ext cx="256032" cy="82296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91056" y="3977640"/>
            <a:ext cx="256032" cy="64008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75104" y="3611880"/>
            <a:ext cx="256032" cy="100584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59152" y="3886200"/>
            <a:ext cx="256032" cy="73152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0" y="3429000"/>
            <a:ext cx="256032" cy="118872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27248" y="3703320"/>
            <a:ext cx="256032" cy="9144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11296" y="3246120"/>
            <a:ext cx="256032" cy="13716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95344" y="3520440"/>
            <a:ext cx="256032" cy="109728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9392" y="3154680"/>
            <a:ext cx="256032" cy="146304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3383280"/>
            <a:ext cx="256032" cy="123444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47488" y="3063240"/>
            <a:ext cx="256032" cy="155448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2743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95959"/>
                </a:solidFill>
                <a:latin typeface="Calibri"/>
              </a:rPr>
              <a:t>Gasto por día (USD)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27614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595959"/>
                </a:solidFill>
                <a:latin typeface="Calibri"/>
              </a:rPr>
              <a:t>Desglose por servicio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017520"/>
            <a:ext cx="128016" cy="256032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87568" y="29992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Virtual Machines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99923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$6.20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3401568"/>
            <a:ext cx="128016" cy="256032"/>
          </a:xfrm>
          <a:prstGeom prst="rect">
            <a:avLst/>
          </a:prstGeom>
          <a:solidFill>
            <a:srgbClr val="17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87568" y="33832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383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$1.10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0" y="3785616"/>
            <a:ext cx="128016" cy="256032"/>
          </a:xfrm>
          <a:prstGeom prst="rect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87568" y="376732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SQL Database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76732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$3.40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4169664"/>
            <a:ext cx="128016" cy="256032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87568" y="415137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333333"/>
                </a:solidFill>
                <a:latin typeface="Calibri"/>
              </a:rPr>
              <a:t>Bandwidth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15137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333333"/>
                </a:solidFill>
                <a:latin typeface="Calibri"/>
              </a:rPr>
              <a:t>$0.80</a:t>
            </a:r>
          </a:p>
        </p:txBody>
      </p:sp>
      <p:sp>
        <p:nvSpPr>
          <p:cNvPr id="37" name="Oval 36"/>
          <p:cNvSpPr/>
          <p:nvPr/>
        </p:nvSpPr>
        <p:spPr>
          <a:xfrm>
            <a:off x="1234440" y="2121408"/>
            <a:ext cx="310896" cy="310896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8" name="Oval 37"/>
          <p:cNvSpPr/>
          <p:nvPr/>
        </p:nvSpPr>
        <p:spPr>
          <a:xfrm>
            <a:off x="3063240" y="2121408"/>
            <a:ext cx="310896" cy="310896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9" name="Oval 38"/>
          <p:cNvSpPr/>
          <p:nvPr/>
        </p:nvSpPr>
        <p:spPr>
          <a:xfrm>
            <a:off x="2377440" y="2880360"/>
            <a:ext cx="310896" cy="310896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5257800" y="2788920"/>
            <a:ext cx="310896" cy="310896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" name="Oval 40"/>
          <p:cNvSpPr/>
          <p:nvPr/>
        </p:nvSpPr>
        <p:spPr>
          <a:xfrm>
            <a:off x="4754880" y="2121408"/>
            <a:ext cx="310896" cy="310896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2" name="Oval 41"/>
          <p:cNvSpPr/>
          <p:nvPr/>
        </p:nvSpPr>
        <p:spPr>
          <a:xfrm>
            <a:off x="7818120" y="1783080"/>
            <a:ext cx="292608" cy="292608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17373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Rango de fechas: el periodo que analizas (mes actual, últimos 30 días…).</a:t>
            </a:r>
          </a:p>
        </p:txBody>
      </p:sp>
      <p:sp>
        <p:nvSpPr>
          <p:cNvPr id="44" name="Oval 43"/>
          <p:cNvSpPr/>
          <p:nvPr/>
        </p:nvSpPr>
        <p:spPr>
          <a:xfrm>
            <a:off x="7818120" y="2624328"/>
            <a:ext cx="292608" cy="292608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2578608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Group by: agrupa el gasto por servicio, grupo de recursos o ETIQUETA.</a:t>
            </a:r>
          </a:p>
        </p:txBody>
      </p:sp>
      <p:sp>
        <p:nvSpPr>
          <p:cNvPr id="46" name="Oval 45"/>
          <p:cNvSpPr/>
          <p:nvPr/>
        </p:nvSpPr>
        <p:spPr>
          <a:xfrm>
            <a:off x="7818120" y="3465576"/>
            <a:ext cx="292608" cy="292608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3419856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Gráfico: el gasto en el tiempo; detecta picos de un vistazo.</a:t>
            </a:r>
          </a:p>
        </p:txBody>
      </p:sp>
      <p:sp>
        <p:nvSpPr>
          <p:cNvPr id="48" name="Oval 47"/>
          <p:cNvSpPr/>
          <p:nvPr/>
        </p:nvSpPr>
        <p:spPr>
          <a:xfrm>
            <a:off x="7818120" y="4306824"/>
            <a:ext cx="292608" cy="292608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4261104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Desglose: cuánto aporta cada servicio al total.</a:t>
            </a:r>
          </a:p>
        </p:txBody>
      </p:sp>
      <p:sp>
        <p:nvSpPr>
          <p:cNvPr id="50" name="Oval 49"/>
          <p:cNvSpPr/>
          <p:nvPr/>
        </p:nvSpPr>
        <p:spPr>
          <a:xfrm>
            <a:off x="7818120" y="5148072"/>
            <a:ext cx="292608" cy="292608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5102352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Exportar / Guardar: llevar los datos a CSV o fijar esta vista.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Anatomía de la herramienta: calculadora de precios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La que usas en el lab — estima el costo ANTES de crear nada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704088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7040880" cy="457200"/>
          </a:xfrm>
          <a:prstGeom prst="roundRect">
            <a:avLst>
              <a:gd name="adj" fmla="val 6000"/>
            </a:avLst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Azure Pricing Calculator   (azure.microsoft.com/pricing/calculator)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4114800" cy="411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🔍  Buscar un producto (Virtual Machines, Storage…)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6583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z-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99232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17320" y="29992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Virtual Machines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520440"/>
            <a:ext cx="1463040" cy="6858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595959"/>
                </a:solidFill>
                <a:latin typeface="Calibri"/>
              </a:rPr>
              <a:t>Región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F3864"/>
                </a:solidFill>
                <a:latin typeface="Calibri"/>
              </a:rPr>
              <a:t>East 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3520440"/>
            <a:ext cx="1463040" cy="6858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595959"/>
                </a:solidFill>
                <a:latin typeface="Calibri"/>
              </a:rPr>
              <a:t>Tamaño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F3864"/>
                </a:solidFill>
                <a:latin typeface="Calibri"/>
              </a:rPr>
              <a:t>B2s (2 vCPU)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3520440"/>
            <a:ext cx="1463040" cy="6858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595959"/>
                </a:solidFill>
                <a:latin typeface="Calibri"/>
              </a:rPr>
              <a:t>Horas/mes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F3864"/>
                </a:solidFill>
                <a:latin typeface="Calibri"/>
              </a:rPr>
              <a:t>730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3520440"/>
            <a:ext cx="1463040" cy="6858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595959"/>
                </a:solidFill>
                <a:latin typeface="Calibri"/>
              </a:rPr>
              <a:t>Sistema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F3864"/>
                </a:solidFill>
                <a:latin typeface="Calibri"/>
              </a:rPr>
              <a:t>Linux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63440"/>
            <a:ext cx="4206240" cy="1051560"/>
          </a:xfrm>
          <a:prstGeom prst="roundRect">
            <a:avLst>
              <a:gd name="adj" fmla="val 6000"/>
            </a:avLst>
          </a:prstGeom>
          <a:solidFill>
            <a:srgbClr val="E8F4EC"/>
          </a:solidFill>
          <a:ln w="19050">
            <a:solidFill>
              <a:srgbClr val="1E7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7C3C"/>
                </a:solidFill>
                <a:latin typeface="Calibri"/>
              </a:rPr>
              <a:t>Costo mensual estimado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1E7C3C"/>
                </a:solidFill>
                <a:latin typeface="Calibri"/>
              </a:rPr>
              <a:t>$ 30,66 USD / 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4663440"/>
            <a:ext cx="2194560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F3864"/>
                </a:solidFill>
                <a:latin typeface="Calibri"/>
              </a:rPr>
              <a:t>Exportar / Compartir
Guardar la estimación</a:t>
            </a:r>
          </a:p>
        </p:txBody>
      </p:sp>
      <p:sp>
        <p:nvSpPr>
          <p:cNvPr id="16" name="Oval 15"/>
          <p:cNvSpPr/>
          <p:nvPr/>
        </p:nvSpPr>
        <p:spPr>
          <a:xfrm>
            <a:off x="4663440" y="2286000"/>
            <a:ext cx="310896" cy="310896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6903720" y="2926080"/>
            <a:ext cx="310896" cy="310896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4480560" y="4709160"/>
            <a:ext cx="310896" cy="310896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6995160" y="4709160"/>
            <a:ext cx="310896" cy="310896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7818120" y="1828800"/>
            <a:ext cx="292608" cy="292608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78308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Buscar y AGREGAR productos a la estimación (VM, Storage, BD…).</a:t>
            </a:r>
          </a:p>
        </p:txBody>
      </p:sp>
      <p:sp>
        <p:nvSpPr>
          <p:cNvPr id="22" name="Oval 21"/>
          <p:cNvSpPr/>
          <p:nvPr/>
        </p:nvSpPr>
        <p:spPr>
          <a:xfrm>
            <a:off x="7818120" y="2788920"/>
            <a:ext cx="292608" cy="292608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7432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Configurar cada producto: región, tamaño, horas, tier. Aquí están las palancas.</a:t>
            </a:r>
          </a:p>
        </p:txBody>
      </p:sp>
      <p:sp>
        <p:nvSpPr>
          <p:cNvPr id="24" name="Oval 23"/>
          <p:cNvSpPr/>
          <p:nvPr/>
        </p:nvSpPr>
        <p:spPr>
          <a:xfrm>
            <a:off x="7818120" y="3749040"/>
            <a:ext cx="292608" cy="292608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Total estimado: se recalcula al instante cuando cambias una opción.</a:t>
            </a:r>
          </a:p>
        </p:txBody>
      </p:sp>
      <p:sp>
        <p:nvSpPr>
          <p:cNvPr id="26" name="Oval 25"/>
          <p:cNvSpPr/>
          <p:nvPr/>
        </p:nvSpPr>
        <p:spPr>
          <a:xfrm>
            <a:off x="7818120" y="4709160"/>
            <a:ext cx="292608" cy="292608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66344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Exportar/compartir la estimación (Excel o enlace) para revisarla con el equipo.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1">
                <a:solidFill>
                  <a:srgbClr val="595959"/>
                </a:solidFill>
                <a:latin typeface="Calibri"/>
              </a:rPr>
              <a:t>Esquema didáctico de la interfaz (no es una captura real). Cifras de ejemplo.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FinOps es multi-nube: mismos principios, otra consola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Aprendes en Azure, pero el marco aplica igual en AWS — con sus iconos oficiales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95959"/>
                </a:solidFill>
                <a:latin typeface="Calibri"/>
              </a:rPr>
              <a:t>NECESIDAD FinOps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6916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F4E9C"/>
                </a:solidFill>
                <a:latin typeface="Calibri"/>
              </a:rPr>
              <a:t>AZURE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16916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8A6D1F"/>
                </a:solidFill>
                <a:latin typeface="Calibri"/>
              </a:rPr>
              <a:t>AWS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109728" cy="502920"/>
          </a:xfrm>
          <a:prstGeom prst="rect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3055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33333"/>
                </a:solidFill>
                <a:latin typeface="Calibri"/>
              </a:rPr>
              <a:t>Ver el gasto</a:t>
            </a:r>
          </a:p>
        </p:txBody>
      </p:sp>
      <p:pic>
        <p:nvPicPr>
          <p:cNvPr id="9" name="Picture 8" descr="az-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093976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93208" y="213055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Calibri"/>
              </a:rPr>
              <a:t>Cost Management</a:t>
            </a:r>
          </a:p>
        </p:txBody>
      </p:sp>
      <p:pic>
        <p:nvPicPr>
          <p:cNvPr id="11" name="Picture 10" descr="aws-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79" y="2093976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59367" y="213055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Cost Explorer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33472"/>
            <a:ext cx="109728" cy="502920"/>
          </a:xfrm>
          <a:prstGeom prst="rect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06624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33333"/>
                </a:solidFill>
                <a:latin typeface="Calibri"/>
              </a:rPr>
              <a:t>Presupuestar y alertar</a:t>
            </a:r>
          </a:p>
        </p:txBody>
      </p:sp>
      <p:pic>
        <p:nvPicPr>
          <p:cNvPr id="15" name="Picture 14" descr="az-bud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67004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93208" y="27066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Calibri"/>
              </a:rPr>
              <a:t>Azure Budgets</a:t>
            </a:r>
          </a:p>
        </p:txBody>
      </p:sp>
      <p:pic>
        <p:nvPicPr>
          <p:cNvPr id="17" name="Picture 16" descr="aws-bud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267004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59367" y="2706624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AWS Budgets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09544"/>
            <a:ext cx="109728" cy="502920"/>
          </a:xfrm>
          <a:prstGeom prst="rect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282696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33333"/>
                </a:solidFill>
                <a:latin typeface="Calibri"/>
              </a:rPr>
              <a:t>Recomendaciones de ahorro</a:t>
            </a:r>
          </a:p>
        </p:txBody>
      </p:sp>
      <p:pic>
        <p:nvPicPr>
          <p:cNvPr id="21" name="Picture 20" descr="az-advis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3246120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93208" y="328269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Calibri"/>
              </a:rPr>
              <a:t>Azure Advisor</a:t>
            </a:r>
          </a:p>
        </p:txBody>
      </p:sp>
      <p:pic>
        <p:nvPicPr>
          <p:cNvPr id="23" name="Picture 22" descr="aws-optimiz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879" y="3246120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59367" y="328269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Trusted Advisor · Compute Optimizer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785616"/>
            <a:ext cx="109728" cy="502920"/>
          </a:xfrm>
          <a:prstGeom prst="rect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8587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33333"/>
                </a:solidFill>
                <a:latin typeface="Calibri"/>
              </a:rPr>
              <a:t>Estimar antes de crear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38587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Calibri"/>
              </a:rPr>
              <a:t>Pricing Calculator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85876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AWS Pricing Calculator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361688"/>
            <a:ext cx="109728" cy="502920"/>
          </a:xfrm>
          <a:prstGeom prst="rect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4348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33333"/>
                </a:solidFill>
                <a:latin typeface="Calibri"/>
              </a:rPr>
              <a:t>Etiquetar para asignar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4348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Calibri"/>
              </a:rPr>
              <a:t>Tags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4348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Cost Allocation Tags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937760"/>
            <a:ext cx="109728" cy="502920"/>
          </a:xfrm>
          <a:prstGeom prst="rect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01091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33333"/>
                </a:solidFill>
                <a:latin typeface="Calibri"/>
              </a:rPr>
              <a:t>Comprar con descuento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501091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33333"/>
                </a:solidFill>
                <a:latin typeface="Calibri"/>
              </a:rPr>
              <a:t>Reservations · Savings Plans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79" y="501091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Reserved Instances · Savings Plans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15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333333"/>
                </a:solidFill>
                <a:latin typeface="Calibri"/>
              </a:rPr>
              <a:t>Las herramientas cambian de nombre (y de icono); el framework Informar → Optimizar → Operar es idéntico. Lo que aprendes aquí en Azure lo aplicas en AWS.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3550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0" i="0">
                <a:solidFill>
                  <a:srgbClr val="595959"/>
                </a:solidFill>
                <a:latin typeface="Calibri"/>
              </a:rPr>
              <a:t>Iconos oficiales de Microsoft Azure y Amazon Web Services, usados con fines de capacitación según sus términos.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Arquitectura de ejemplo: ¿de dónde sale el costo?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Una web app sencilla — la del lab de hoy — con su medidor en cada pieza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Calibri"/>
              </a:rPr>
              <a:t>En Azure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1965960"/>
            <a:ext cx="21488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77240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App en una VM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B02A26"/>
                </a:solidFill>
                <a:latin typeface="Calibri"/>
              </a:rPr>
              <a:t>$ por hora encendida</a:t>
            </a:r>
          </a:p>
        </p:txBody>
      </p:sp>
      <p:pic>
        <p:nvPicPr>
          <p:cNvPr id="6" name="Picture 5" descr="az-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2075688"/>
            <a:ext cx="566928" cy="5669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92040" y="1965960"/>
            <a:ext cx="21488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77240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Base de datos SQL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B02A26"/>
                </a:solidFill>
                <a:latin typeface="Calibri"/>
              </a:rPr>
              <a:t>$ por hora / DTU</a:t>
            </a:r>
          </a:p>
        </p:txBody>
      </p:sp>
      <p:pic>
        <p:nvPicPr>
          <p:cNvPr id="8" name="Picture 7" descr="az-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075688"/>
            <a:ext cx="566928" cy="5669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20" y="1965960"/>
            <a:ext cx="21488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77240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Storage Account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A6D1F"/>
                </a:solidFill>
                <a:latin typeface="Calibri"/>
              </a:rPr>
              <a:t>$ por GB/mes</a:t>
            </a:r>
          </a:p>
        </p:txBody>
      </p:sp>
      <p:pic>
        <p:nvPicPr>
          <p:cNvPr id="10" name="Picture 9" descr="az-stor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2075688"/>
            <a:ext cx="566928" cy="566928"/>
          </a:xfrm>
          <a:prstGeom prst="rect">
            <a:avLst/>
          </a:prstGeom>
        </p:spPr>
      </p:pic>
      <p:sp>
        <p:nvSpPr>
          <p:cNvPr id="11" name="Right Arrow 10"/>
          <p:cNvSpPr/>
          <p:nvPr/>
        </p:nvSpPr>
        <p:spPr>
          <a:xfrm>
            <a:off x="3931920" y="2468880"/>
            <a:ext cx="914400" cy="365760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086600" y="2468880"/>
            <a:ext cx="914400" cy="365760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468880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95959"/>
                </a:solidFill>
                <a:latin typeface="Calibri"/>
              </a:rPr>
              <a:t>usuarios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1920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A6D1F"/>
                </a:solidFill>
                <a:latin typeface="Calibri"/>
              </a:rPr>
              <a:t>egress 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8A6D1F"/>
                </a:solidFill>
                <a:latin typeface="Calibri"/>
              </a:rPr>
              <a:t>El mismo diseño en AWS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37360" y="411480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ws-e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8528" y="4288536"/>
            <a:ext cx="566928" cy="5669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06040" y="437083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EC2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411480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ws-r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3208" y="4288536"/>
            <a:ext cx="566928" cy="5669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60720" y="437083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RDS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1480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9DB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ws-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7888" y="4288536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15400" y="437083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S3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931920" y="4389120"/>
            <a:ext cx="914400" cy="365760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7086600" y="4389120"/>
            <a:ext cx="914400" cy="365760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349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333333"/>
                </a:solidFill>
                <a:latin typeface="Calibri"/>
              </a:rPr>
              <a:t>Cada recurso tiene su propio medidor: la VM/EC2 cobra por tiempo encendido, la BD por hora, el storage por GB, y sacar datos (egress) por GB. En el lab estimas exactamente esto en la calculadora.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Caso de uso: el recurso olvidado (zombie)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El desperdicio #1 en la nube — y cómo el ciclo FinOps lo resuelve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 CREA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una VM para una prueba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2888" y="2075688"/>
            <a:ext cx="219456" cy="274320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61488" y="1737360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B0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 OLVIDA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encendida sin uso; la factura sube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91456" y="2075688"/>
            <a:ext cx="219456" cy="274320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0056" y="1737360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17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 DETECTA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Cost Analysis / Cost Explorer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50024" y="2075688"/>
            <a:ext cx="219456" cy="274320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78624" y="1737360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 CONFIRMA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Advisor / Compute Optimizer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08592" y="2075688"/>
            <a:ext cx="219456" cy="274320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537192" y="1737360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 APAGA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y se verifica el ahorro</a:t>
            </a:r>
          </a:p>
        </p:txBody>
      </p:sp>
      <p:pic>
        <p:nvPicPr>
          <p:cNvPr id="13" name="Picture 12" descr="server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08960"/>
            <a:ext cx="3931920" cy="2621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57607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Calibri"/>
              </a:rPr>
              <a:t>Racks de servidores · Wikimedia Commons · CC BY 4.0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20040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Lo mismo en las dos nubes:</a:t>
            </a:r>
          </a:p>
          <a:p>
            <a:pPr algn="l" indent="-137160" marL="182880">
              <a:spcBef>
                <a:spcPts val="0"/>
              </a:spcBef>
              <a:spcAft>
                <a:spcPts val="7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Azure: una VM olvidada → la ves en Cost Analysis, Advisor la marca como infrautilizada, la apagas o la eliminas.</a:t>
            </a:r>
          </a:p>
          <a:p>
            <a:pPr algn="l" indent="-137160" marL="182880">
              <a:spcBef>
                <a:spcPts val="0"/>
              </a:spcBef>
              <a:spcAft>
                <a:spcPts val="7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AWS: una instancia EC2 igual → Cost Explorer muestra el gasto, Compute Optimizer / Trusted Advisor la marcan, la detienes.</a:t>
            </a:r>
          </a:p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00" b="0" i="0">
                <a:solidFill>
                  <a:srgbClr val="1E7C3C"/>
                </a:solidFill>
                <a:latin typeface="Calibri"/>
              </a:rPr>
              <a:t>La lección FinOps: apagar lo que no se usa es el ahorro más fácil y frecuente. Pagas por tiempo encendido, uses o no la máquina.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Caso de uso: la sorpresa de la salida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La entrada es gratis; SACAR datos se cobra — sorprende en Azure y en AWS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APP EN LA NUBE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sirve datos a usuarios/otras regiones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2888" y="2075688"/>
            <a:ext cx="219456" cy="274320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61488" y="1737360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SALEN DATOS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cada GB de egress se cobra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91456" y="2075688"/>
            <a:ext cx="219456" cy="274320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0056" y="1737360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B0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PICO EN LA FACTURA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un cargo que nadie esperaba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50024" y="2075688"/>
            <a:ext cx="219456" cy="274320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78624" y="1737360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178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 DETECTA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costo por medidor: 'Data Transfer Out'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08592" y="2075688"/>
            <a:ext cx="219456" cy="274320"/>
          </a:xfrm>
          <a:prstGeom prst="rightArrow">
            <a:avLst/>
          </a:prstGeom>
          <a:solidFill>
            <a:srgbClr val="9DB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537192" y="1737360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 MITIGA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CDN, misma región, comprimir</a:t>
            </a:r>
          </a:p>
        </p:txBody>
      </p:sp>
      <p:pic>
        <p:nvPicPr>
          <p:cNvPr id="13" name="Picture 12" descr="datacen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200400"/>
            <a:ext cx="3931920" cy="261104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35240" y="58064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595959"/>
                </a:solidFill>
                <a:latin typeface="Calibri"/>
              </a:rPr>
              <a:t>Data center · Wikimedia Commons · CC BY-SA 3.0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20040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Por qué sorprende — en cualquier nube:</a:t>
            </a:r>
          </a:p>
          <a:p>
            <a:pPr algn="l" indent="-137160" marL="182880">
              <a:spcBef>
                <a:spcPts val="0"/>
              </a:spcBef>
              <a:spcAft>
                <a:spcPts val="7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Subir datos (ingress) suele ser gratis; bajarlos/enviarlos fuera (egress) se cobra por GB. Azure y AWS funcionan igual.</a:t>
            </a:r>
          </a:p>
          <a:p>
            <a:pPr algn="l" indent="-137160" marL="182880">
              <a:spcBef>
                <a:spcPts val="0"/>
              </a:spcBef>
              <a:spcAft>
                <a:spcPts val="7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dispara con backups a otra región, APIs muy consultadas, o mover datos entre nubes.</a:t>
            </a:r>
          </a:p>
          <a:p>
            <a:pPr algn="l" indent="-137160" marL="182880">
              <a:spcBef>
                <a:spcPts val="0"/>
              </a:spcBef>
              <a:spcAft>
                <a:spcPts val="7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detecta agrupando el costo por 'medidor' (Azure) o 'usage type' (AWS) y buscando 'Data Transfer Out'.</a:t>
            </a:r>
          </a:p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00" b="0" i="0">
                <a:solidFill>
                  <a:srgbClr val="1E7C3C"/>
                </a:solidFill>
                <a:latin typeface="Calibri"/>
              </a:rPr>
              <a:t>Se mitiga: cachear con CDN, mantener el tráfico en la misma región y comprimir. Diseñar pensando en el egress.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La regla de oro de la Sesión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Con la que arranca todo el resto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2103120"/>
            <a:ext cx="9601200" cy="155448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457200" wrap="square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1">
                <a:solidFill>
                  <a:srgbClr val="FFFFFF"/>
                </a:solidFill>
                <a:latin typeface="Calibri"/>
              </a:rPr>
              <a:t>«No puedes optimizar —ni gobernar, ni presupuestar— lo que no puedes ver. La visibilidad del costo es el cimiento de FinOps.»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Por eso INFORMAR es la primera fase del framework.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681728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Hoy consigues visibilidad; la S2 la hace útil con etiquetas y asignación.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5248656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Sin este cimiento, presupuestar (S3) y optimizar (S4) son adivinar.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Laboratorio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Tu primer contacto con los costos en Azure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2024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91440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Activa y explora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Activas tu cuenta Azure for Students y recorres el portal y Cost Management.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520440" cy="594360"/>
          </a:xfrm>
          <a:prstGeom prst="roundRect">
            <a:avLst>
              <a:gd name="adj" fmla="val 6000"/>
            </a:avLst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Parte 1 · 20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91440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Estima con la calculadora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Con la Pricing Calculator estimas el costo de una pequeña arquitectura y ves sus palancas.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520440" cy="594360"/>
          </a:xfrm>
          <a:prstGeom prst="roundRect">
            <a:avLst>
              <a:gd name="adj" fmla="val 6000"/>
            </a:avLst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Parte 2 · 25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920240"/>
            <a:ext cx="352044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914400" wrap="square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Ve tu gasto real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Despliegas un recurso mínimo y lo ubicas en Cost Analysis; interpretas el desglose.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920240"/>
            <a:ext cx="3520440" cy="594360"/>
          </a:xfrm>
          <a:prstGeom prst="roundRect">
            <a:avLst>
              <a:gd name="adj" fmla="val 6000"/>
            </a:avLst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Parte 3 · 15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20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333333"/>
                </a:solidFill>
                <a:latin typeface="Calibri"/>
              </a:rPr>
              <a:t>Requisito: tu cuenta Azure for Students activa (correo académico que te da EAN, $100 de crédito, sin tarjeta). El crédito NO se gasta con la calculadora ni por explorar; solo si dejas recursos encendidos — al final del lab los apagas.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A1A1A"/>
                </a:solidFill>
                <a:latin typeface="Calibri"/>
              </a:rPr>
              <a:t>Puente a la Sesión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Ya ves el gasto total — falta saber de QUIÉN es cada peso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2103120"/>
            <a:ext cx="9601200" cy="146304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wrap="square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1">
                <a:solidFill>
                  <a:srgbClr val="FFFFFF"/>
                </a:solidFill>
                <a:latin typeface="Calibri"/>
              </a:rPr>
              <a:t>Ver el total es el primer paso. Pero «gastamos X» no basta: ¿qué área, qué proyecto, qué ambiente? La S2 responde eso con ETIQUETADO y asignación de costos (showback/chargeback).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02336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Hoy: visibilidad del gasto (Cost Analysis) y el modelo de facturación.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57200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S2: etiquetas, organización de recursos y repartir el costo por área.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512064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137160" marL="182880">
              <a:spcBef>
                <a:spcPts val="0"/>
              </a:spcBef>
              <a:spcAft>
                <a:spcPts val="400"/>
              </a:spcAft>
              <a:buChar char="•"/>
            </a:pPr>
            <a:r>
              <a:rPr sz="1350" b="0" i="0">
                <a:solidFill>
                  <a:srgbClr val="333333"/>
                </a:solidFill>
                <a:latin typeface="Calibri"/>
              </a:rPr>
              <a:t>Tarea: activa tu cuenta y trae al menos un recurso desplegado para etiquetarlo.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008542"/>
                </a:solidFill>
                <a:latin typeface="Calibri"/>
              </a:rPr>
              <a:t>ean  ·  educación continua   |   88-EAN · FinOps y Optimización de Costos Cloud · Sesión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