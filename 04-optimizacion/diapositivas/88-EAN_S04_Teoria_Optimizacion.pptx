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A651"/>
              </a:gs>
              <a:gs pos="100000">
                <a:srgbClr val="003DA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Optimización de costos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Rightsizing, eliminar desperdicio, Advisor y comprar con descuento (reservas y savings plans)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El CÓMO reducir el gasto que no genera valor — sin frenar el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Jawy Andrés Romero Pinto   ·  Curso 88-EAN · Universidad Ean · Educación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 horas  ·  Microsoft Azure (Azure for Students) · con equivalencias en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Agenda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Las palancas para reducir el gasto — de la más fácil a la más estratégica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WST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Eliminar el desperdicio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Recursos ociosos, discos huérfanos, IPs sin uso.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Rightsizing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Ajustar el tamaño al uso real: ni grande ni pequeño.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27248"/>
            <a:ext cx="566928" cy="566928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Apagar y escalar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Horarios y autoescalado: pagar solo cuando se usa.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ADV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245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Que la nube te diga dónde ahorrar.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$$$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Comprar con descuento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Reservas vs savings plans: comprometer para pagar menos.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96128"/>
            <a:ext cx="566928" cy="566928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595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Laboratorio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Encuentras desperdicio y calculas el ahorro de una reserva.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De la Sesión 3 a la Sesión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Las alertas te dicen CUÁNDO; hoy aprendes el CÓMO reducir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Sesiones 1–3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Ves el gasto (S1) y lo asignas (S2)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Presupuestas y alertas te avisan (S3)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Sabes cuándo hay que actuar…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…pero ¿QUÉ haces para gastar menos?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Sesión 4 · Optimizar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Eliminas el desperdicio (lo ocioso)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Ajustas el tamaño al uso real (rightsizing)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Apagas/escalas según la demanda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Compras con descuento lo que sí usas siempre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Las tres palancas de la optimización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Del ahorro más fácil al más estratégico — en ese orden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51560" wrap="square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Eliminar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Apaga/borra lo que no aporta valor. Ahorro inmediato, riesgo casi nulo.</a:t>
            </a:r>
          </a:p>
        </p:txBody>
      </p:sp>
      <p:sp>
        <p:nvSpPr>
          <p:cNvPr id="5" name="Oval 4"/>
          <p:cNvSpPr/>
          <p:nvPr/>
        </p:nvSpPr>
        <p:spPr>
          <a:xfrm>
            <a:off x="1965960" y="2194560"/>
            <a:ext cx="822960" cy="822960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51560" wrap="square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Ajustar (rightsizing)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Redimensiona al uso real. Ahorro alto, requiere medir antes.</a:t>
            </a:r>
          </a:p>
        </p:txBody>
      </p:sp>
      <p:sp>
        <p:nvSpPr>
          <p:cNvPr id="7" name="Oval 6"/>
          <p:cNvSpPr/>
          <p:nvPr/>
        </p:nvSpPr>
        <p:spPr>
          <a:xfrm>
            <a:off x="5760720" y="2194560"/>
            <a:ext cx="822960" cy="82296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92024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51560" wrap="square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Comprometer (comprar)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Reservas/savings plans para lo estable. Máximo descuento, requiere compromiso.</a:t>
            </a:r>
          </a:p>
        </p:txBody>
      </p:sp>
      <p:sp>
        <p:nvSpPr>
          <p:cNvPr id="9" name="Oval 8"/>
          <p:cNvSpPr/>
          <p:nvPr/>
        </p:nvSpPr>
        <p:spPr>
          <a:xfrm>
            <a:off x="9555480" y="2194560"/>
            <a:ext cx="822960" cy="822960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El orden importa: primero elimina lo ocioso (no tiene sentido comprar una reserva para una VM que deberías apagar). Luego ajusta el tamaño. Y solo al final compras descuentos para lo que quedó y es estable.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Palanca 1: eliminar el desperdicio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pagas y no usa nadie — el ahorro más fácil que existe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916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VMs ociosas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Encendidas sin uso (CPU casi en 0). Apagar o eliminar.</a:t>
            </a:r>
          </a:p>
        </p:txBody>
      </p:sp>
      <p:pic>
        <p:nvPicPr>
          <p:cNvPr id="5" name="Picture 4" descr="az-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566928" cy="5669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2862072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916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Discos huérfanos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Discos de VMs ya borradas que siguen cobrando por GB.</a:t>
            </a:r>
          </a:p>
        </p:txBody>
      </p:sp>
      <p:pic>
        <p:nvPicPr>
          <p:cNvPr id="7" name="Picture 6" descr="az-d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44952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94106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916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Snapshots viejos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Copias que nadie recuerda, acumulando costo mes a mes.</a:t>
            </a:r>
          </a:p>
        </p:txBody>
      </p:sp>
      <p:pic>
        <p:nvPicPr>
          <p:cNvPr id="9" name="Picture 8" descr="az-sto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23944"/>
            <a:ext cx="566928" cy="5669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02005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9164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Ambientes olvidados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El 'temporal' de hace 6 meses, aún encendido.</a:t>
            </a:r>
          </a:p>
        </p:txBody>
      </p:sp>
      <p:pic>
        <p:nvPicPr>
          <p:cNvPr id="11" name="Picture 10" descr="az-subscrip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02936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Cómo encontrarlo: Cost Analysis (¿qué cuesta y no debería?) + Advisor (recursos infrautilizados). En el lab lo buscas tú.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Palanca 2: rightsizing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Ajustar el tamaño del recurso a su uso REAL — ni de más, ni de menos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6576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0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02A26"/>
                </a:solidFill>
                <a:latin typeface="Calibri"/>
              </a:rPr>
              <a:t>SOBREDIMENSIONADO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VM grande, CPU al 8%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Pagas de más por capacidad ociosa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02A26"/>
                </a:solidFill>
                <a:latin typeface="Calibri"/>
              </a:rPr>
              <a:t>→ BAJAR de tamaño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6576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7C3C"/>
                </a:solidFill>
                <a:latin typeface="Calibri"/>
              </a:rPr>
              <a:t>CORRECTO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tamaño ~ uso (60-80%)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Pagas por lo que necesitas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7C3C"/>
                </a:solidFill>
                <a:latin typeface="Calibri"/>
              </a:rPr>
              <a:t>→ mantener y vigilar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6576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8A6D1F"/>
                </a:solidFill>
                <a:latin typeface="Calibri"/>
              </a:rPr>
              <a:t>SUBDIMENSIONADO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VM chica, CPU al 95%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El servicio sufre / se cae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A6D1F"/>
                </a:solidFill>
                <a:latin typeface="Calibri"/>
              </a:rPr>
              <a:t>→ SUBIR de tamaño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Clave: rightsizing exige MEDIR primero (métricas de CPU, memoria, uso real durante semanas). Advisor lo hace por ti y sugiere el tamaño. Es la palanca de mayor ahorro sin apagar nada — solo pagar por lo justo.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Palanca 2b: apagar por horario y autoescalar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Pagar solo cuando se usa — la nube cobra por tiempo encendido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Apagado programado (schedule)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Ambientes de PRUEBA/desarrollo no se usan de noche ni fines de semana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Un horario los apaga a las 7pm y los enciende a las 7am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Ahorro directo: ~65% (de 168h a ~60h/semana)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Nunca en producción crítica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Autoescalado (autoscaling)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La demanda sube de día y baja de noche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sistema AGREGA o QUITA instancias solo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Pagas por la capacidad que la demanda pide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Ideal para cargas variables (web, APIs)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Para Colpensiones: los ambientes de prueba apagados fuera de horario laboral son un ahorro grande y sin riesgo. Producción se maneja con autoescalado, no con apagado.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Palanca de apoyo: Azure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nube analiza tu uso y te dice dónde ahorrar — gratis</a:t>
            </a:r>
          </a:p>
        </p:txBody>
      </p:sp>
      <p:pic>
        <p:nvPicPr>
          <p:cNvPr id="4" name="Picture 3" descr="az-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F3864"/>
                </a:solidFill>
                <a:latin typeface="Calibri"/>
              </a:rPr>
              <a:t>Advisor revisa tus recursos y da recomendaciones de COSTO: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«Redimensiona esta VM (uso 8%) → ahorras $X/mes».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«Estas 3 VMs son candidatas a reserva → ahorras Y%».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«Este recurso está ocioso → elimínalo».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0">
                <a:solidFill>
                  <a:srgbClr val="1E7C3C"/>
                </a:solidFill>
                <a:latin typeface="Calibri"/>
              </a:rPr>
              <a:t>Cada recomendación trae el AHORRO estimado. AWS: Trusted Advisor + Compute Optimizer.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029200" cy="5029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Advisor  ›  Cost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606040"/>
            <a:ext cx="4572000" cy="777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Right-size 2 virtual machines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7C3C"/>
                </a:solidFill>
                <a:latin typeface="Calibri"/>
              </a:rPr>
              <a:t>Ahorro est. $ 145 / 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2606040"/>
            <a:ext cx="109728" cy="7772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3520440"/>
            <a:ext cx="4572000" cy="777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Buy reservation for VM (1 año)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7C3C"/>
                </a:solidFill>
                <a:latin typeface="Calibri"/>
              </a:rPr>
              <a:t>Ahorro est. 38%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3520440"/>
            <a:ext cx="109728" cy="777240"/>
          </a:xfrm>
          <a:prstGeom prst="rect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0840" y="4434840"/>
            <a:ext cx="4572000" cy="777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Delete 3 unattached disks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7C3C"/>
                </a:solidFill>
                <a:latin typeface="Calibri"/>
              </a:rPr>
              <a:t>Ahorro est. $ 22 / 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4434840"/>
            <a:ext cx="109728" cy="777240"/>
          </a:xfrm>
          <a:prstGeom prst="rect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595959"/>
                </a:solidFill>
                <a:latin typeface="Calibri"/>
              </a:rPr>
              <a:t>Esquema didáctico (no es captura real). Cifras de ejemplo.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Palanca 3: comprar con descuento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Comprometerte a usar (1 o 3 años) a cambio de pagar mucho menos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Pago por uso (on-demand)</a:t>
            </a:r>
          </a:p>
          <a:p>
            <a:pPr algn="l" indent="-137160" marL="18288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Flexibilidad total, sin compromiso</a:t>
            </a:r>
          </a:p>
          <a:p>
            <a:pPr algn="l" indent="-137160" marL="18288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El precio de lista (el más caro)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Ideal para cargas nuevas o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373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E7C3C"/>
                </a:solidFill>
                <a:latin typeface="Calibri"/>
              </a:rPr>
              <a:t>Compromiso (reserva / savings plan)</a:t>
            </a:r>
          </a:p>
          <a:p>
            <a:pPr algn="l" indent="-137160" marL="18288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Te comprometes a usar por 1 o 3 años</a:t>
            </a:r>
          </a:p>
          <a:p>
            <a:pPr algn="l" indent="-137160" marL="18288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A cambio: hasta ~40-72% de descuento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Ideal para cargas ESTABLES (24/7)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2514600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z-re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31920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38862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Reservas (Reserved Instances)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Calibri"/>
              </a:rPr>
              <a:t>Reservas un tamaño/tipo específico de VM.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Calibri"/>
              </a:rPr>
              <a:t>Mayor descuento, MENOS flexible.</a:t>
            </a:r>
          </a:p>
        </p:txBody>
      </p:sp>
      <p:pic>
        <p:nvPicPr>
          <p:cNvPr id="9" name="Picture 8" descr="az-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38862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Savings Plans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Calibri"/>
              </a:rPr>
              <a:t>Te comprometes a un $/hora de cómputo.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Calibri"/>
              </a:rPr>
              <a:t>Algo menos descuento, MÁS flexible.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Regla: primero elimina y ajusta; LUEGO compras compromisos para lo que quedó y es estable. Comprar una reserva de algo que ibas a apagar es perder dinero.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¿Cuál compro? Reserva vs Savings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Depende de qué tan segura y estable sea la carga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28016" cy="960120"/>
          </a:xfrm>
          <a:prstGeom prst="rect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Carga 24/7 fija, un tipo de VM que no cambiará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8745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1F7C"/>
                </a:solidFill>
                <a:latin typeface="Calibri"/>
              </a:rPr>
              <a:t>Reserva (RI)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7452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Máximo descuento; sabes exactamente qué usarás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62072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62072"/>
            <a:ext cx="128016" cy="96012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Cómputo estable pero que podría cambiar de tipo/región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953512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7808A"/>
                </a:solidFill>
                <a:latin typeface="Calibri"/>
              </a:rPr>
              <a:t>Savings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5351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Descuento alto + flexibilidad de mover la carga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4106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41064"/>
            <a:ext cx="128016" cy="9601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Carga nueva, variable o temporal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032504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9C"/>
                </a:solidFill>
                <a:latin typeface="Calibri"/>
              </a:rPr>
              <a:t>On-demand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032504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No te comprometas a algo incierto; paga por uso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005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020056"/>
            <a:ext cx="128016" cy="960120"/>
          </a:xfrm>
          <a:prstGeom prst="rect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11496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Ambiente de prueba (se apaga de noche)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111496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02A26"/>
                </a:solidFill>
                <a:latin typeface="Calibri"/>
              </a:rPr>
              <a:t>Ninguno: apágalo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11496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Un compromiso sobre algo que apagas = desperdicio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Optimización multi-nube: Azure ↔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Mismas palancas; herramientas equivalentes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NECESIDAD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4E9C"/>
                </a:solidFill>
                <a:latin typeface="Calibri"/>
              </a:rPr>
              <a:t>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Recomendaciones de ahorro</a:t>
            </a:r>
          </a:p>
        </p:txBody>
      </p:sp>
      <p:pic>
        <p:nvPicPr>
          <p:cNvPr id="9" name="Picture 8" descr="az-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22585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Azure Advisor</a:t>
            </a:r>
          </a:p>
        </p:txBody>
      </p:sp>
      <p:pic>
        <p:nvPicPr>
          <p:cNvPr id="11" name="Picture 10" descr="aws-optim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221992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258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Trusted Advisor · Compute Optimizer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98648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Rightsizing de cómputo</a:t>
            </a:r>
          </a:p>
        </p:txBody>
      </p:sp>
      <p:pic>
        <p:nvPicPr>
          <p:cNvPr id="15" name="Picture 14" descr="az-v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7180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4920" y="30083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Advisor (VM right-size)</a:t>
            </a:r>
          </a:p>
        </p:txBody>
      </p:sp>
      <p:pic>
        <p:nvPicPr>
          <p:cNvPr id="17" name="Picture 16" descr="aws-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297180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0" y="30083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Compute Optimizer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48456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5818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Reservas</a:t>
            </a:r>
          </a:p>
        </p:txBody>
      </p:sp>
      <p:pic>
        <p:nvPicPr>
          <p:cNvPr id="21" name="Picture 20" descr="az-reserv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2160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74920" y="37581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Reserved VM Instances</a:t>
            </a:r>
          </a:p>
        </p:txBody>
      </p:sp>
      <p:pic>
        <p:nvPicPr>
          <p:cNvPr id="23" name="Picture 22" descr="aws-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3721608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0" y="37581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Reserved Instances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98264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079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Savings Plans</a:t>
            </a:r>
          </a:p>
        </p:txBody>
      </p:sp>
      <p:pic>
        <p:nvPicPr>
          <p:cNvPr id="27" name="Picture 26" descr="az-sav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71416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74920" y="4507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Azure Savings Plans</a:t>
            </a:r>
          </a:p>
        </p:txBody>
      </p:sp>
      <p:pic>
        <p:nvPicPr>
          <p:cNvPr id="29" name="Picture 28" descr="aws-sav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79" y="4471416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0" y="4507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AWS Savings Plans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El playbook es universal: eliminar → ajustar → comprometer. Cambian los nombres, no la estrategia.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Calibri"/>
              </a:rPr>
              <a:t>Iconos oficiales de Microsoft Azure y Amazon Web Services, usados con fines de capacitación según sus términos.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Caso de uso: de $2.590 a $1.700 al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playbook completo aplicado a la factura del ejercicio de la S3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FACTURA: $2.590/mes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y proyectada a subir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8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1488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ELIMINAR ocioso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3 discos + 1 VM olvidada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91456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0056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RIGHTSIZING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2 VMs sobredimensionadas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0024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8624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APAGAR pruebas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ambientes de noche/finde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37192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RESERVAR lo estable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las VMs 24/7 con descuento</a:t>
            </a:r>
          </a:p>
        </p:txBody>
      </p:sp>
      <p:pic>
        <p:nvPicPr>
          <p:cNvPr id="13" name="Picture 12" descr="server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0"/>
            <a:ext cx="3931920" cy="2621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760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Racks de servidores · Wikimedia Commons · CC BY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 resultado (ejemplo):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Eliminar lo ocioso: −$180/mes (fácil, sin riesgo).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Rightsizing de 2 VMs: −$310/mes (ajustar al uso real).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Apagar pruebas de noche: −$220/mes.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Reservar las VMs estables: −$180/mes.  →  Total ~$1.700 (−34%), SIN afectar el servicio.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regla de oro de la Sesión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orden y el criterio de la optimización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5544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1">
                <a:solidFill>
                  <a:srgbClr val="FFFFFF"/>
                </a:solidFill>
                <a:latin typeface="Calibri"/>
              </a:rPr>
              <a:t>«Primero elimina lo que no usas, luego ajusta lo que sí, y solo al final compra descuentos para lo estable. Optimizar no es apagar todo: es pagar lo justo por el valor que necesitas.»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Eliminar → Ajustar → Comprometer. En ese orden.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mayor ahorro sin riesgo: apagar/eliminar lo ocioso.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24865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Nunca compres una reserva de algo que deberías apagar.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Laboratorio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Encuentra desperdicio y calcula el ahorro de una reserva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Caza el desperdicio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En Cost Analysis + Advisor buscas recursos ociosos/infrautilizados y su ahorro.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1 · 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Simula un rightsizing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Con la calculadora, comparas una VM sobredimensionada vs la del tamaño correcto.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2 · 20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Calcula una reserva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Comparas on-demand vs reserva 1/3 años y calculas el % y $ de ahorro.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3 · 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Importante: la cuenta Azure for Students NO permite comprar reservas/savings plans reales. Por eso las Partes 2 y 3 se hacen con la CALCULADORA de precios (comparando escenarios) — que es como se decide en la vida real, antes de comprometer dinero.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Puente a la Sesión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Ya sabes optimizar — ahora hay que hacerlo SOSTENIBLE en el tiempo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4630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Optimizar una vez es fácil; el gasto vuelve a crecer si no hay gobierno. La S5: políticas que previenen el desperdicio (Azure Policy), cultura FinOps, madurez y los KPIs para sostener el ahorro.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233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Hoy: eliminar, ajustar y comprometer (las palancas de ahorro).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5720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S5: gobierno con Azure Policy, cultura, madurez y KPIs — cierre del curso.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12064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Tarea: identifica en tu cuenta al menos un recurso que podrías optimizar.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