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A651"/>
              </a:gs>
              <a:gs pos="100000">
                <a:srgbClr val="003DA5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Sesión 5 · Cierre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Gobierno, cultura FinOps y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Que el ahorro no se pierda: políticas que previenen el desperdicio, cultura y métricas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La fase Operar del FinOps Framework — hacer sostenible todo lo aprendido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Jawy Andrés Romero Pinto   ·  Curso 88-EAN · Universidad Ean · Educación Continua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2 horas  ·  Microsoft Azure (Azure for Students) · con equivalencias en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Agenda de la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De optimizar una vez a sostener el ahorro en el tiempo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81328"/>
            <a:ext cx="566928" cy="566928"/>
          </a:xfrm>
          <a:prstGeom prst="ellipse">
            <a:avLst/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¿?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4447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Por qué el ahorro se pierde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55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Sin gobierno, el gasto vuelve a crecer solo.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04288"/>
            <a:ext cx="566928" cy="56692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POL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6771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Gobierno con Azure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57860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Reglas que previenen el desperdicio automáticamente.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27248"/>
            <a:ext cx="566928" cy="566928"/>
          </a:xfrm>
          <a:prstGeom prst="ellipse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09067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Cultura FinOps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40156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Un deporte de equipo: responsabilidad compartida.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50208"/>
            <a:ext cx="566928" cy="566928"/>
          </a:xfrm>
          <a:prstGeom prst="ellipse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MAD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136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Modelo de madurez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2245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Gatear → caminar → correr (crawl-walk-run).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773168"/>
            <a:ext cx="566928" cy="566928"/>
          </a:xfrm>
          <a:prstGeom prst="ellipse">
            <a:avLst/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736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KPIs y benchmarking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04748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Las métricas que prueban que FinOps funciona.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596128"/>
            <a:ext cx="566928" cy="566928"/>
          </a:xfrm>
          <a:prstGeom prst="ellipse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FIN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5595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Cierre + laboratorio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8704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Creas una política y armas tu tablero de KPIs.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El problema: optimizar una vez no basta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Sin gobierno, el gasto que redujiste vuelve a crecer</a:t>
            </a:r>
          </a:p>
        </p:txBody>
      </p:sp>
      <p:pic>
        <p:nvPicPr>
          <p:cNvPr id="4" name="Picture 3" descr="n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78308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45720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95959"/>
                </a:solidFill>
                <a:latin typeface="Calibri"/>
              </a:rPr>
              <a:t>Centro de operaciones · Wikimedia Commons · CC BY-SA 3.0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En la S4 bajaste la factura. Pero…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Alguien crea una VM gigante la próxima semana. Sin etiqueta. Sin apagar.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El ambiente de prueba que apagaste, alguien lo vuelve a encender 24/7.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En 3 meses el gasto volvió a subir y hay que re-optimizar TODO otra vez.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1E7C3C"/>
                </a:solidFill>
                <a:latin typeface="Calibri"/>
              </a:rPr>
              <a:t>La solución: GOBIERNO (reglas que previenen) + CULTURA (todos responsables) + KPIs (medir para sostener). Es la fase OPERAR.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Gobernar es prevenir, no perseguir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Mejor una regla que impide el desperdicio que perseguirlo después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Sin gobierno (reactivo)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Alguien crea recursos sin etiqueta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Los descubres en la factura, semanas después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Persigues a la gente para que corrija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El desperdicio se repite cada 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905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C3C"/>
                </a:solidFill>
                <a:latin typeface="Calibri"/>
              </a:rPr>
              <a:t>Con gobierno (preventivo)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Una POLÍTICA exige etiquetas al crear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Si falta, el recurso se bloquea o se corrige solo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Nadie persigue a nadie: la regla actúa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El desperdicio se previene de raíz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61888" y="3534156"/>
            <a:ext cx="384048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El gobierno convierte las buenas prácticas (etiquetar, apagar, dimensionar) en reglas automáticas — no dependen de la memoria ni de la voluntad de cada persona.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Azure Policy: las reglas de la nube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Define condiciones que TODOS los recursos deben cumplir — automáticamente</a:t>
            </a:r>
          </a:p>
        </p:txBody>
      </p:sp>
      <p:pic>
        <p:nvPicPr>
          <p:cNvPr id="4" name="Picture 3" descr="az-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1828800"/>
            <a:ext cx="9144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Una política tiene una condición y un EFECTO cuando no se cumple: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Deny (denegar): bloquea la creación del recurso que no cumple. Ej.: «sin etiqueta centro-de-costo, no se crea».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Audit (auditar): permite pero marca el incumplimiento en un reporte. Ej.: «lista las VMs sin etiqueta».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Modify / Append: corrige solo. Ej.: «hereda la etiqueta del grupo de recursos».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00" b="0" i="0">
                <a:solidFill>
                  <a:srgbClr val="1E7C3C"/>
                </a:solidFill>
                <a:latin typeface="Calibri"/>
              </a:rPr>
              <a:t>DeployIfNotExists: despliega algo que falta (p. ej. un diagnóstico). Se aplican por suscripción o grupo de gestión.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Políticas FinOps que valen la pena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Las reglas que evitan el desperdicio más común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28016" cy="822960"/>
          </a:xfrm>
          <a:prstGeom prst="rect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Etiquetas obligatorias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984248"/>
            <a:ext cx="1554480" cy="4114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178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7808A"/>
                </a:solidFill>
                <a:latin typeface="Calibri"/>
              </a:rPr>
              <a:t>Deny/Modify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842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Sin centro-de-costo y ambiente, no se crea (o se hereda)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15768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715768"/>
            <a:ext cx="128016" cy="82296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0720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Tamaños de VM permitidos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916936"/>
            <a:ext cx="1554480" cy="4114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1F4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9C"/>
                </a:solidFill>
                <a:latin typeface="Calibri"/>
              </a:rPr>
              <a:t>Deny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1693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Solo tamaños de una lista aprobada (evita la VM gigante)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48456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48456"/>
            <a:ext cx="128016" cy="822960"/>
          </a:xfrm>
          <a:prstGeom prst="rect">
            <a:avLst/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39896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Regiones permitidas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849624"/>
            <a:ext cx="1554480" cy="4114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6B1F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B1F7C"/>
                </a:solidFill>
                <a:latin typeface="Calibri"/>
              </a:rPr>
              <a:t>Deny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4962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Solo regiones autorizadas (costo y soberanía de datos)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81144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581144"/>
            <a:ext cx="128016" cy="822960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72584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Apagar ambientes de prueba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782312"/>
            <a:ext cx="1554480" cy="4114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8A6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A6D1F"/>
                </a:solidFill>
                <a:latin typeface="Calibri"/>
              </a:rPr>
              <a:t>Automatización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7823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ambiente=pruebas se apaga fuera de horario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513832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513832"/>
            <a:ext cx="128016" cy="82296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0527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Auditar recursos sin dueño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5715000"/>
            <a:ext cx="1554480" cy="4114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7C3C"/>
                </a:solidFill>
                <a:latin typeface="Calibri"/>
              </a:rPr>
              <a:t>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715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Reporta lo que no tiene etiqueta dueño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333333"/>
                </a:solidFill>
                <a:latin typeface="Calibri"/>
              </a:rPr>
              <a:t>Para Colpensiones: empezar con «etiquetas obligatorias» (habilita todo lo demás) y «tamaños permitidos» (evita el mayor desperdicio).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Anatomía: asignar una política en Azure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pantalla de Policy — lo que harás en el 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704088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7040880" cy="4572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Policy  ›  Assignments  ›  Assign policy</a:t>
            </a:r>
          </a:p>
        </p:txBody>
      </p:sp>
      <p:pic>
        <p:nvPicPr>
          <p:cNvPr id="6" name="Picture 5" descr="az-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45920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Scope (alcance)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331720"/>
            <a:ext cx="4572000" cy="3840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9DB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Suscripción: Azure for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Policy definition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926080"/>
            <a:ext cx="4572000" cy="3840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9DB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Require a tag on 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Parámetro: tag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520440"/>
            <a:ext cx="4572000" cy="3840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9DB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centro-de-costo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Effect (efecto)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4114800"/>
            <a:ext cx="4572000" cy="3840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9DB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B02A26"/>
                </a:solidFill>
                <a:latin typeface="Calibri"/>
              </a:rPr>
              <a:t>Deny  (bloquea si falta)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4937760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Assign</a:t>
            </a:r>
          </a:p>
        </p:txBody>
      </p:sp>
      <p:sp>
        <p:nvSpPr>
          <p:cNvPr id="16" name="Oval 15"/>
          <p:cNvSpPr/>
          <p:nvPr/>
        </p:nvSpPr>
        <p:spPr>
          <a:xfrm>
            <a:off x="2651760" y="2377440"/>
            <a:ext cx="310896" cy="310896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651760" y="2971800"/>
            <a:ext cx="310896" cy="310896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2651760" y="4160520"/>
            <a:ext cx="310896" cy="310896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5303520" y="4937760"/>
            <a:ext cx="310896" cy="310896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7818120" y="1783080"/>
            <a:ext cx="292608" cy="292608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7373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Scope: dónde aplica (suscripción o grupo de gestión = todas las de abajo).</a:t>
            </a:r>
          </a:p>
        </p:txBody>
      </p:sp>
      <p:sp>
        <p:nvSpPr>
          <p:cNvPr id="22" name="Oval 21"/>
          <p:cNvSpPr/>
          <p:nvPr/>
        </p:nvSpPr>
        <p:spPr>
          <a:xfrm>
            <a:off x="7818120" y="2743200"/>
            <a:ext cx="292608" cy="292608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974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Policy definition: la regla (Azure trae decenas listas; aquí, exigir una etiqueta).</a:t>
            </a:r>
          </a:p>
        </p:txBody>
      </p:sp>
      <p:sp>
        <p:nvSpPr>
          <p:cNvPr id="24" name="Oval 23"/>
          <p:cNvSpPr/>
          <p:nvPr/>
        </p:nvSpPr>
        <p:spPr>
          <a:xfrm>
            <a:off x="7818120" y="3703320"/>
            <a:ext cx="292608" cy="292608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6576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Effect: qué pasa si no se cumple. Deny bloquea; Audit solo reporta.</a:t>
            </a:r>
          </a:p>
        </p:txBody>
      </p:sp>
      <p:sp>
        <p:nvSpPr>
          <p:cNvPr id="26" name="Oval 25"/>
          <p:cNvSpPr/>
          <p:nvPr/>
        </p:nvSpPr>
        <p:spPr>
          <a:xfrm>
            <a:off x="7818120" y="4663440"/>
            <a:ext cx="292608" cy="292608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6177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Assign: desde ya, todo recurso nuevo debe cumplir la regla.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1">
                <a:solidFill>
                  <a:srgbClr val="595959"/>
                </a:solidFill>
                <a:latin typeface="Calibri"/>
              </a:rPr>
              <a:t>Esquema didáctico de la interfaz (no es una captura real).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Cultura FinOps: un deporte de equipo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Las herramientas no bastan — FinOps es de PERSONAS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7C3C"/>
                </a:solidFill>
                <a:latin typeface="Calibri"/>
              </a:rPr>
              <a:t>Los equipos COLABORAN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Ingeniería, finanzas y negocio hablan el mismo idioma de costos.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63240"/>
            <a:ext cx="5257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7C3C"/>
                </a:solidFill>
                <a:latin typeface="Calibri"/>
              </a:rPr>
              <a:t>Todos son DUEÑOS de su uso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Cada quien responde por lo que consume (por eso etiquetamos).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434840"/>
            <a:ext cx="5257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7C3C"/>
                </a:solidFill>
                <a:latin typeface="Calibri"/>
              </a:rPr>
              <a:t>El VALOR guía las decisiones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No se trata de gastar menos, sino de gastar donde hay retorno.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91640"/>
            <a:ext cx="5257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7C3C"/>
                </a:solidFill>
                <a:latin typeface="Calibri"/>
              </a:rPr>
              <a:t>Datos accesibles y a tiempo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El costo visible para todos, no escondido en un reporte mensual.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063240"/>
            <a:ext cx="5257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7C3C"/>
                </a:solidFill>
                <a:latin typeface="Calibri"/>
              </a:rPr>
              <a:t>FinOps se habilita CENTRALMENTE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Un equipo/práctica facilita datos, procesos y lenguaje común.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434840"/>
            <a:ext cx="5257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7C3C"/>
                </a:solidFill>
                <a:latin typeface="Calibri"/>
              </a:rPr>
              <a:t>Aprovechar el modelo VARIABLE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Pagar por uso es una ventaja: apagar, escalar, ajustar.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95959"/>
                </a:solidFill>
                <a:latin typeface="Calibri"/>
              </a:rPr>
              <a:t>Los 6 principios de la FinOps Foundation. En una entidad pública, la cultura de costos es tan importante como en una empresa: cada peso es público.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Modelo de madurez: gatear, caminar, correr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FinOps no se implanta de golpe — se madura por etapas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82296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9C"/>
                </a:solidFill>
                <a:latin typeface="Calibri"/>
              </a:rPr>
              <a:t>GATEAR (crawl)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Empiezas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Visibilidad básica, algo de etiquetado, reportes manuales. Pocos KPIs.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657600" cy="50292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GATEAR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24527" y="3108960"/>
            <a:ext cx="219456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78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82296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7808A"/>
                </a:solidFill>
                <a:latin typeface="Calibri"/>
              </a:rPr>
              <a:t>CAMINAR (walk)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Avanzas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Etiquetado consistente, presupuestos, optimización regular, algunas políticas.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657600" cy="50292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CAMINAR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019287" y="3108960"/>
            <a:ext cx="219456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92024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82296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7C3C"/>
                </a:solidFill>
                <a:latin typeface="Calibri"/>
              </a:rPr>
              <a:t>CORRER (run)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Maduro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Gobierno automatizado, cultura extendida, KPIs de negocio, mejora continua.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920240"/>
            <a:ext cx="3657600" cy="50292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CORRER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333333"/>
                </a:solidFill>
                <a:latin typeface="Calibri"/>
              </a:rPr>
              <a:t>Dónde está el curso: te llevamos de GATEAR a CAMINAR. Visibilidad (S1), asignación (S2), control (S3), optimización (S4) y ahora gobierno (S5). Correr es el trabajo de los próximos meses en tu organización.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KPIs: probar que FinOps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Lo que no se mide, no se sostiene — los números que reporta la práctica</a:t>
            </a:r>
          </a:p>
        </p:txBody>
      </p:sp>
      <p:pic>
        <p:nvPicPr>
          <p:cNvPr id="4" name="Picture 3" descr="az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914400" cy="914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920240" y="1828800"/>
            <a:ext cx="96012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20240" y="1828800"/>
            <a:ext cx="128016" cy="749808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95681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% del presupuesto usado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9933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95959"/>
                </a:solidFill>
                <a:latin typeface="Calibri"/>
              </a:rPr>
              <a:t>¿Vamos dentro del plan? (por área)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2670048"/>
            <a:ext cx="96012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20240" y="2670048"/>
            <a:ext cx="128016" cy="749808"/>
          </a:xfrm>
          <a:prstGeom prst="rect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279806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Costo por unidad de negocio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95959"/>
                </a:solidFill>
                <a:latin typeface="Calibri"/>
              </a:rPr>
              <a:t>$ por trámite / usuario (unit economics)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3511296"/>
            <a:ext cx="96012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20240" y="3511296"/>
            <a:ext cx="128016" cy="749808"/>
          </a:xfrm>
          <a:prstGeom prst="rect">
            <a:avLst/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363931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% de recursos etiquetados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6758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95959"/>
                </a:solidFill>
                <a:latin typeface="Calibri"/>
              </a:rPr>
              <a:t>¿Podemos asignar todo el costo?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4352544"/>
            <a:ext cx="96012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4352544"/>
            <a:ext cx="128016" cy="749808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44805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$ de desperdicio eliminado/mes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51713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95959"/>
                </a:solidFill>
                <a:latin typeface="Calibri"/>
              </a:rPr>
              <a:t>El ahorro que genera la práctica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5193792"/>
            <a:ext cx="96012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20240" y="5193792"/>
            <a:ext cx="128016" cy="749808"/>
          </a:xfrm>
          <a:prstGeom prst="rect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532180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% de cobertura de reservas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35838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95959"/>
                </a:solidFill>
                <a:latin typeface="Calibri"/>
              </a:rPr>
              <a:t>¿Estamos comprando bien el cómputo estable?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333333"/>
                </a:solidFill>
                <a:latin typeface="Calibri"/>
              </a:rPr>
              <a:t>El KPI estrella de FinOps es el COSTO POR UNIDAD (unit economics): permite crecer el negocio y que el costo unitario baje. Es el lenguaje de la dirección.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Gobierno multi-nube: Azure ↔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Mismas ideas; herramientas equivalentes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Calibri"/>
              </a:rPr>
              <a:t>NECESIDAD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4E9C"/>
                </a:solidFill>
                <a:latin typeface="Calibri"/>
              </a:rPr>
              <a:t>AZURE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A6D1F"/>
                </a:solidFill>
                <a:latin typeface="Calibri"/>
              </a:rPr>
              <a:t>AWS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9728" cy="54864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585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Políticas de gobierno</a:t>
            </a:r>
          </a:p>
        </p:txBody>
      </p:sp>
      <p:pic>
        <p:nvPicPr>
          <p:cNvPr id="9" name="Picture 8" descr="az-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21992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74920" y="225856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Azure Policy</a:t>
            </a:r>
          </a:p>
        </p:txBody>
      </p:sp>
      <p:pic>
        <p:nvPicPr>
          <p:cNvPr id="11" name="Picture 10" descr="aws-o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221992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0" y="22585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Service Control Policies (Organizations)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98648"/>
            <a:ext cx="109728" cy="54864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0837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Jerarquía de cuentas</a:t>
            </a:r>
          </a:p>
        </p:txBody>
      </p:sp>
      <p:pic>
        <p:nvPicPr>
          <p:cNvPr id="15" name="Picture 14" descr="az-mgm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971800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74920" y="300837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Management Groups</a:t>
            </a:r>
          </a:p>
        </p:txBody>
      </p:sp>
      <p:pic>
        <p:nvPicPr>
          <p:cNvPr id="17" name="Picture 16" descr="aws-o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971800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0" y="300837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AWS Organizations (OUs)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48456"/>
            <a:ext cx="109728" cy="54864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5818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Reportes y KPIs de costo</a:t>
            </a:r>
          </a:p>
        </p:txBody>
      </p:sp>
      <p:pic>
        <p:nvPicPr>
          <p:cNvPr id="21" name="Picture 20" descr="az-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721608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74920" y="37581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Cost Management + dashboards</a:t>
            </a:r>
          </a:p>
        </p:txBody>
      </p:sp>
      <p:pic>
        <p:nvPicPr>
          <p:cNvPr id="23" name="Picture 22" descr="aws-co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79" y="3721608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86800" y="375818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Cost Explorer + reports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98264"/>
            <a:ext cx="109728" cy="54864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5079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Plantillas de gobierno</a:t>
            </a:r>
          </a:p>
        </p:txBody>
      </p:sp>
      <p:pic>
        <p:nvPicPr>
          <p:cNvPr id="27" name="Picture 26" descr="az-bluepr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471416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74920" y="45079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Azure Blueprints / Landing Zones</a:t>
            </a:r>
          </a:p>
        </p:txBody>
      </p:sp>
      <p:pic>
        <p:nvPicPr>
          <p:cNvPr id="29" name="Picture 28" descr="aws-o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4471416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86800" y="45079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Control Tower / Landing Zone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333333"/>
                </a:solidFill>
                <a:latin typeface="Calibri"/>
              </a:rPr>
              <a:t>El gobierno es la capability «Governance, Policy &amp; Risk» del FinOps Framework — universal a cualquier nube.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55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595959"/>
                </a:solidFill>
                <a:latin typeface="Calibri"/>
              </a:rPr>
              <a:t>Iconos oficiales de Microsoft Azure y Amazon Web Services, usados con fines de capacitación según sus términos.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El curso completo en el FinOps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Cinco sesiones = las tres fases del marco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INFORMAR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S1 Visibilidad · S2 Asignación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Ver y asignar el gasto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10312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OPTIMIZAR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S3 Control · S4 Optimización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Presupuestar y reducir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210312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OPERAR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S5 Gobierno y cultura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Sostener en el tiempo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39" y="2880360"/>
            <a:ext cx="502920" cy="45720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909560" y="2880360"/>
            <a:ext cx="502920" cy="45720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ft Arrow 8"/>
          <p:cNvSpPr/>
          <p:nvPr/>
        </p:nvSpPr>
        <p:spPr>
          <a:xfrm>
            <a:off x="2377440" y="4480560"/>
            <a:ext cx="7680960" cy="320040"/>
          </a:xfrm>
          <a:prstGeom prst="leftArrow">
            <a:avLst/>
          </a:prstGeom>
          <a:solidFill>
            <a:srgbClr val="BFC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4892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95959"/>
                </a:solidFill>
                <a:latin typeface="Calibri"/>
              </a:rPr>
              <a:t>…y el ciclo se repite: FinOps nunca termina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333333"/>
                </a:solidFill>
                <a:latin typeface="Calibri"/>
              </a:rPr>
              <a:t>Lo recorriste completo: de no ver nada (antes de S1) a un ciclo de gestión financiera de la nube que puedes montar y sostener con software y prácticas estándar.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La regla de oro de la Sesión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Lo que hace que FinOps perdure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103120"/>
            <a:ext cx="9601200" cy="155448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457200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1">
                <a:solidFill>
                  <a:srgbClr val="FFFFFF"/>
                </a:solidFill>
                <a:latin typeface="Calibri"/>
              </a:rPr>
              <a:t>«Optimizar es un acto; FinOps es un hábito. El gobierno convierte las buenas decisiones en reglas, la cultura las hace de todos, y los KPIs prueban que funcionan.»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1148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Gobierno: previene el desperdicio con reglas, no con vigilancia.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681728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Cultura: FinOps es de personas — todos dueños de su uso.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248656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KPIs: mides para sostener. El costo por unidad es el lenguaje de la dirección.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Laboratorio de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Crea una política y arma tu tablero de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Crea una política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En Azure Policy asignas «etiqueta obligatoria» y compruebas que bloquea un recurso sin etiqueta.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1 · 25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Define tus KPIs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Eliges 3 KPIs para tu organización y dices de dónde saldría el dato de cada uno.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2 · 20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Plan de madurez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Ubicas a tu organización (gatear/caminar/correr) y defines 3 acciones siguientes.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3 · 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20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Nota: en Azure for Students puedes asignar políticas a nivel de tu suscripción. Si el efecto Deny diera problemas de permisos, usa el efecto Audit (reporta sin bloquear) — el aprendizaje es el mismo.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Cierre del curso · 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Lo que te llevas de FinOps y Optimización de Costos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En 5 sesiones aprendiste a: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VER el gasto y entender el modelo de costos de la nube (S1).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ASIGNAR cada peso a su área con etiquetas y showback (S2).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CONTROLARLO con presupuestos, alertas, anomalías y forecast (S3).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OPTIMIZAR con rightsizing, apagado, Advisor y compromisos (S4).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SOSTENER el ahorro con gobierno, cultura y KPIs (S5).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350" b="1" i="1">
                <a:solidFill>
                  <a:srgbClr val="1E7C3C"/>
                </a:solidFill>
                <a:latin typeface="Calibri"/>
              </a:rPr>
              <a:t>FinOps no es gastar menos: es maximizar el valor de cada peso — y ahora tienes el marco, las herramientas y la práctica para hacerlo en Azure y en AWS.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