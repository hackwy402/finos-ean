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A651"/>
              </a:gs>
              <a:gs pos="100000">
                <a:srgbClr val="003DA5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Sesión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700" b="1" i="0">
                <a:solidFill>
                  <a:srgbClr val="FFFFFF"/>
                </a:solidFill>
                <a:latin typeface="Calibri"/>
              </a:rPr>
              <a:t>Etiquetado, organización y asignación de 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Del gasto total a saber DE QUIÉN es cada peso: etiquetas, jerarquía y showback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La fase Informar del FinOps Framework, ahora con nombre y apellido en cada costo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Jawy Andrés Romero Pinto   ·  Curso 88-EAN · Universidad Ean · Educación Continua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2 horas  ·  Plataforma: Microsoft Azure (cuentas Azure for Students) · con equivalencias en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Agenda de la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De ver el total a repartirlo por área, proyecto y ambiente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81328"/>
            <a:ext cx="566928" cy="566928"/>
          </a:xfrm>
          <a:prstGeom prst="ellipse">
            <a:avLst/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¿?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4447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El total no basta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55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«Gastamos X» no dice qué área ni qué proyecto.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04288"/>
            <a:ext cx="566928" cy="566928"/>
          </a:xfrm>
          <a:prstGeom prst="ellipse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6771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Organizar los recursos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57860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Grupos de gestión, suscripciones y grupos de recursos.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27248"/>
            <a:ext cx="566928" cy="566928"/>
          </a:xfrm>
          <a:prstGeom prst="ellipse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09067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Etiquetas (tags)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40156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Pares clave=valor que responden ¿de quién es?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950208"/>
            <a:ext cx="566928" cy="566928"/>
          </a:xfrm>
          <a:prstGeom prst="ellipse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$$$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136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Showback vs chargeback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22452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Mostrar el costo o cobrarlo a cada área.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773168"/>
            <a:ext cx="566928" cy="566928"/>
          </a:xfrm>
          <a:prstGeom prst="ellipse">
            <a:avLst/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73659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Ver por etiqueta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04748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Cost Analysis agrupado por tag; casos de uso.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596128"/>
            <a:ext cx="566928" cy="566928"/>
          </a:xfrm>
          <a:prstGeom prst="ellipse">
            <a:avLst/>
          </a:prstGeom>
          <a:solidFill>
            <a:srgbClr val="6B1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55955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Laboratorio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8704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Etiquetas tus recursos y repartes el gasto por área.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De la Sesión 1 a la Sesión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Ya ves el total; ahora le pones nombre y apellido a cada peso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Sesión 1 · visibilidad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Ves el gasto total en Cost Analysis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Entiendes el modelo de facturación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Sabes qué mide cada servicio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Pero: «gastamos $10.000» ¿de quién 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1905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C3C"/>
                </a:solidFill>
                <a:latin typeface="Calibri"/>
              </a:rPr>
              <a:t>Sesión 2 · asignación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Organizas los recursos (jerarquía)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Etiquetas cada recurso (área, proyecto…)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Agrupas el costo por etiqueta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Respondes: cada área ve LO SUYO (showback)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61888" y="3534156"/>
            <a:ext cx="384048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El problema: el total no dice de quién 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Sin asignación, nadie se hace responsable de su gasto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737360"/>
            <a:ext cx="9966960" cy="13716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457200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1">
                <a:solidFill>
                  <a:srgbClr val="FFFFFF"/>
                </a:solidFill>
                <a:latin typeface="Calibri"/>
              </a:rPr>
              <a:t>«La factura de Azure del mes fue $10.000. — Perfecto, ¿pero cuánto gastó Pensiones? ¿y el proyecto nuevo? ¿y los ambientes de prueba? — … no sabemos.»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Lo que pasa sin asignación: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Nadie es dueño del costo → nadie lo optimiza (es «de la nube», de nadie).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No puedes comparar áreas ni proyectos, ni calcular el costo por trámite.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El ambiente de prueba que alguien olvidó encendido se esconde en el total.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1E7C3C"/>
                </a:solidFill>
                <a:latin typeface="Calibri"/>
              </a:rPr>
              <a:t>La solución: ORGANIZAR (jerarquía) + ETIQUETAR (tags) para repartir el gasto.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Primero: organiza los recursos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 jerarquía de Azure es tu primer nivel de asignación de costos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0"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Grupos de gestión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Agrupan varias suscripciones (p. ej. por dependencia o entorno).</a:t>
            </a:r>
          </a:p>
        </p:txBody>
      </p:sp>
      <p:pic>
        <p:nvPicPr>
          <p:cNvPr id="5" name="Picture 4" descr="az-mg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20240"/>
            <a:ext cx="548640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280160" y="2743200"/>
            <a:ext cx="9784080" cy="82296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0"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Suscripciones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Límite de facturación y de acceso; separa grandes áreas o proyectos.</a:t>
            </a:r>
          </a:p>
        </p:txBody>
      </p:sp>
      <p:pic>
        <p:nvPicPr>
          <p:cNvPr id="7" name="Picture 6" descr="az-subscri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2880360"/>
            <a:ext cx="548640" cy="548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920240" y="3703320"/>
            <a:ext cx="8686800" cy="82296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0"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Grupos de recursos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Agrupan los recursos de UNA carga/proyecto. Nivel natural de costo.</a:t>
            </a:r>
          </a:p>
        </p:txBody>
      </p:sp>
      <p:pic>
        <p:nvPicPr>
          <p:cNvPr id="9" name="Picture 8" descr="az-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968" y="3840480"/>
            <a:ext cx="548640" cy="548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560320" y="4663440"/>
            <a:ext cx="7589520" cy="82296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0" wrap="square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Recursos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La VM, el storage, la BD que consumen. Cada uno se puede etiquetar.</a:t>
            </a:r>
          </a:p>
        </p:txBody>
      </p:sp>
      <p:pic>
        <p:nvPicPr>
          <p:cNvPr id="11" name="Picture 10" descr="az-v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048" y="4800600"/>
            <a:ext cx="548640" cy="548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La jerarquía ya te da una asignación «gruesa» (por suscripción y grupo). Las ETIQUETAS te dan la fina (por área, proyecto, ambiente, dueño) — que atraviesa toda la jerarquía.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Qué son las etiquetas (tags)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Pares clave = valor que le pegas a cada recurso</a:t>
            </a:r>
          </a:p>
        </p:txBody>
      </p:sp>
      <p:pic>
        <p:nvPicPr>
          <p:cNvPr id="4" name="Picture 3" descr="az-t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0312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Una etiqueta es un par clave = valor. Le pones varias a cada recurso: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2468880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ambiente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2468880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178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produccion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3035808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centro-de-costo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3035808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178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pensiones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3602736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proyecto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3602736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178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portal-afiliados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4169664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dueño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4169664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178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jromero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4736592"/>
            <a:ext cx="1828800" cy="45720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aplicacion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4736592"/>
            <a:ext cx="2011680" cy="457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178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Calibri"/>
              </a:rPr>
              <a:t>tramites-web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Por qué importan: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Calibri"/>
              </a:rPr>
              <a:t>Atraviesan la jerarquía: puedes sumar el gasto de «centro-de-costo = pensiones» aunque esté en varias suscripciones.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Calibri"/>
              </a:rPr>
              <a:t>En Cost Analysis agrupas y filtras por etiqueta.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250" b="0" i="0">
                <a:solidFill>
                  <a:srgbClr val="333333"/>
                </a:solidFill>
                <a:latin typeface="Calibri"/>
              </a:rPr>
              <a:t>Son la base del showback/chargeback y del gobierno (S5).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250" b="0" i="1">
                <a:solidFill>
                  <a:srgbClr val="B02A26"/>
                </a:solidFill>
                <a:latin typeface="Calibri"/>
              </a:rPr>
              <a:t>Ojo: una etiqueta vacía o mal escrita = costo que no se puede asignar.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Estrategia de etiquetado: pocas, pero obligatorias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Mejor 5 etiquetas que todos ponen que 20 que nadie respeta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5959"/>
                </a:solidFill>
                <a:latin typeface="Calibri"/>
              </a:rPr>
              <a:t>ETIQUETA (clave)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5959"/>
                </a:solidFill>
                <a:latin typeface="Calibri"/>
              </a:rPr>
              <a:t>EJEMPLO DE 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5959"/>
                </a:solidFill>
                <a:latin typeface="Calibri"/>
              </a:rPr>
              <a:t>PARA QUÉ SIRVE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" cy="457200"/>
          </a:xfrm>
          <a:prstGeom prst="rect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ambiente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48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produccion / pruebas / desarrollo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Separar lo crítico de lo desechable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24912"/>
            <a:ext cx="109728" cy="457200"/>
          </a:xfrm>
          <a:prstGeom prst="rect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706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centro-de-costo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77063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pensiones / ti / juridica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770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Repartir a quién le corresponde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346704"/>
            <a:ext cx="109728" cy="457200"/>
          </a:xfrm>
          <a:prstGeom prst="rect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924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proyecto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3924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portal-afiliados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3924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Medir el costo de una iniciativa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68496"/>
            <a:ext cx="109728" cy="457200"/>
          </a:xfrm>
          <a:prstGeom prst="rect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142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dueño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01421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jromero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142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Saber a quién preguntar / apagar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590288"/>
            <a:ext cx="109728" cy="457200"/>
          </a:xfrm>
          <a:prstGeom prst="rect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636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aplicacion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6360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tramites-web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6360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Unit economics: costo por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Reglas: nombres en minúscula y sin tildes (evita 'Producción' vs 'produccion'); define los valores permitidos; y hazlas OBLIGATORIAS con una política (S5). La consistencia es todo.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Showback vs Chargeback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Dos formas de devolverle el costo a cada área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</a:rPr>
              <a:t>Showback (mostrar)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Le MUESTRAS a cada área lo que gastó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No hay transferencia de dinero real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Crea conciencia y responsabilidad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Ideal para empezar: menos fricción política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91640"/>
            <a:ext cx="5257800" cy="3977639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1905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0" rIns="274320" tIns="228600"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1E7C3C"/>
                </a:solidFill>
                <a:latin typeface="Calibri"/>
              </a:rPr>
              <a:t>Chargeback (cobrar)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Le COBRAS a cada área su gasto (a su presupuesto)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Hay transferencia interna real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Máxima responsabilidad: duele en el bolsillo</a:t>
            </a:r>
          </a:p>
          <a:p>
            <a:pPr algn="l" indent="-137160" marL="182880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Requiere madurez y datos muy confiables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61888" y="3534156"/>
            <a:ext cx="384048" cy="292608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Ambos DEPENDEN del etiquetado: sin tags confiables no puedes ni mostrar ni cobrar. Por eso etiquetar bien (hoy) es el cimiento de toda la cultura de costos.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Etiquetado multi-nube: Azure ↔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El concepto es idéntico; cambian los nombres y los iconos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595959"/>
                </a:solidFill>
                <a:latin typeface="Calibri"/>
              </a:rPr>
              <a:t>NECESIDAD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4E9C"/>
                </a:solidFill>
                <a:latin typeface="Calibri"/>
              </a:rPr>
              <a:t>AZURE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A6D1F"/>
                </a:solidFill>
                <a:latin typeface="Calibri"/>
              </a:rPr>
              <a:t>AWS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9728" cy="54864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585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Etiquetar recursos</a:t>
            </a:r>
          </a:p>
        </p:txBody>
      </p:sp>
      <p:pic>
        <p:nvPicPr>
          <p:cNvPr id="9" name="Picture 8" descr="az-t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21992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74920" y="225856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Tags</a:t>
            </a:r>
          </a:p>
        </p:txBody>
      </p:sp>
      <p:pic>
        <p:nvPicPr>
          <p:cNvPr id="11" name="Picture 10" descr="aws-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221992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0" y="22585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Cost Allocation Tags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98648"/>
            <a:ext cx="109728" cy="54864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0837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Agrupar cuentas/áreas</a:t>
            </a:r>
          </a:p>
        </p:txBody>
      </p:sp>
      <p:pic>
        <p:nvPicPr>
          <p:cNvPr id="15" name="Picture 14" descr="az-mgm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971800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74920" y="300837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Management Groups</a:t>
            </a:r>
          </a:p>
        </p:txBody>
      </p:sp>
      <p:pic>
        <p:nvPicPr>
          <p:cNvPr id="17" name="Picture 16" descr="aws-or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2971800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0" y="300837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AWS Organizations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648456"/>
            <a:ext cx="109728" cy="54864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5818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Ver por etiqueta</a:t>
            </a:r>
          </a:p>
        </p:txBody>
      </p:sp>
      <p:pic>
        <p:nvPicPr>
          <p:cNvPr id="21" name="Picture 20" descr="az-co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721608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74920" y="37581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Cost Analysis (Group by Tag)</a:t>
            </a:r>
          </a:p>
        </p:txBody>
      </p:sp>
      <p:pic>
        <p:nvPicPr>
          <p:cNvPr id="23" name="Picture 22" descr="aws-co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79" y="3721608"/>
            <a:ext cx="384048" cy="3840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86800" y="375818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Cost Explorer (Group by Tag)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98264"/>
            <a:ext cx="109728" cy="54864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50799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33333"/>
                </a:solidFill>
                <a:latin typeface="Calibri"/>
              </a:rPr>
              <a:t>Exigir etiquetas</a:t>
            </a:r>
          </a:p>
        </p:txBody>
      </p:sp>
      <p:pic>
        <p:nvPicPr>
          <p:cNvPr id="27" name="Picture 26" descr="az-polic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471416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74920" y="450799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Azure Policy</a:t>
            </a:r>
          </a:p>
        </p:txBody>
      </p:sp>
      <p:pic>
        <p:nvPicPr>
          <p:cNvPr id="29" name="Picture 28" descr="aws-or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4471416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86800" y="45079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Service Control Policies / Tag Policies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333333"/>
                </a:solidFill>
                <a:latin typeface="Calibri"/>
              </a:rPr>
              <a:t>En AWS las etiquetas deben ACTIVARSE como 'Cost Allocation Tags' para verlas en el costo. En Azure aparecen directo. Detalle operativo; el concepto es el mismo.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093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50" b="0" i="0">
                <a:solidFill>
                  <a:srgbClr val="595959"/>
                </a:solidFill>
                <a:latin typeface="Calibri"/>
              </a:rPr>
              <a:t>Iconos oficiales de Microsoft Azure y Amazon Web Services, usados con fines de capacitación según sus términos.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Anatomía: Cost Analysis agrupado por etiqueta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 misma herramienta de la S1 — ahora respondiendo «¿de quién es?»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704088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7040880" cy="4572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Cost Management  ›  Cost analysis</a:t>
            </a:r>
          </a:p>
        </p:txBody>
      </p:sp>
      <p:pic>
        <p:nvPicPr>
          <p:cNvPr id="6" name="Picture 5" descr="az-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45920"/>
            <a:ext cx="365760" cy="365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2240280"/>
            <a:ext cx="2926080" cy="411480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1270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7C3C"/>
                </a:solidFill>
                <a:latin typeface="Calibri"/>
              </a:rPr>
              <a:t>Group by:  Tag  →  centro-de-costo  ▾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566160"/>
            <a:ext cx="822960" cy="1554480"/>
          </a:xfrm>
          <a:prstGeom prst="rect">
            <a:avLst/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95959"/>
                </a:solidFill>
                <a:latin typeface="Calibri"/>
              </a:rPr>
              <a:t>pensiones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4114800"/>
            <a:ext cx="822960" cy="1005840"/>
          </a:xfrm>
          <a:prstGeom prst="rect">
            <a:avLst/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5166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95959"/>
                </a:solidFill>
                <a:latin typeface="Calibri"/>
              </a:rPr>
              <a:t>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480560"/>
            <a:ext cx="822960" cy="640080"/>
          </a:xfrm>
          <a:prstGeom prst="rect">
            <a:avLst/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5166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95959"/>
                </a:solidFill>
                <a:latin typeface="Calibri"/>
              </a:rPr>
              <a:t>juridica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4297680"/>
            <a:ext cx="822960" cy="822960"/>
          </a:xfrm>
          <a:prstGeom prst="rect">
            <a:avLst/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5166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95959"/>
                </a:solidFill>
                <a:latin typeface="Calibri"/>
              </a:rPr>
              <a:t>(sin etiqueta)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95959"/>
                </a:solidFill>
                <a:latin typeface="Calibri"/>
              </a:rPr>
              <a:t>Gasto por centro-de-costo (USD)</a:t>
            </a:r>
          </a:p>
        </p:txBody>
      </p:sp>
      <p:sp>
        <p:nvSpPr>
          <p:cNvPr id="17" name="Oval 16"/>
          <p:cNvSpPr/>
          <p:nvPr/>
        </p:nvSpPr>
        <p:spPr>
          <a:xfrm>
            <a:off x="3291840" y="2286000"/>
            <a:ext cx="310896" cy="310896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4846320" y="3017520"/>
            <a:ext cx="310896" cy="310896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7818120" y="1828800"/>
            <a:ext cx="292608" cy="292608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7830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Group by: Tag → eliges la etiqueta (aquí 'centro-de-costo'). El gasto se reparte por su valor.</a:t>
            </a:r>
          </a:p>
        </p:txBody>
      </p:sp>
      <p:sp>
        <p:nvSpPr>
          <p:cNvPr id="21" name="Oval 20"/>
          <p:cNvSpPr/>
          <p:nvPr/>
        </p:nvSpPr>
        <p:spPr>
          <a:xfrm>
            <a:off x="7818120" y="2880360"/>
            <a:ext cx="292608" cy="292608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8346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Cada barra es un área: ahora SÍ sabes cuánto gastó Pensiones, TI, Jurídica…</a:t>
            </a:r>
          </a:p>
        </p:txBody>
      </p:sp>
      <p:sp>
        <p:nvSpPr>
          <p:cNvPr id="23" name="Oval 22"/>
          <p:cNvSpPr/>
          <p:nvPr/>
        </p:nvSpPr>
        <p:spPr>
          <a:xfrm>
            <a:off x="7818120" y="3931920"/>
            <a:ext cx="292608" cy="292608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88620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La barra roja '(sin etiqueta)' es costo que NO se pudo asignar: hay que etiquetarlo. Es tu tarea del lab.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1">
                <a:solidFill>
                  <a:srgbClr val="595959"/>
                </a:solidFill>
                <a:latin typeface="Calibri"/>
              </a:rPr>
              <a:t>Esquema didáctico de la interfaz (no es una captura real). Cifras de ejemplo.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Anatomía: aplicar una etiqueta a un recurso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 pantalla de Tags — dónde le pones nombre y apellido al gasto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704088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7040880" cy="45720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Recurso: stlabfinops  ›  Tags (Etiquetas)</a:t>
            </a:r>
          </a:p>
        </p:txBody>
      </p:sp>
      <p:pic>
        <p:nvPicPr>
          <p:cNvPr id="6" name="Picture 5" descr="az-t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45920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240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95959"/>
                </a:solidFill>
                <a:latin typeface="Calibri"/>
              </a:rPr>
              <a:t>Name (clave)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240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95959"/>
                </a:solidFill>
                <a:latin typeface="Calibri"/>
              </a:rPr>
              <a:t>Value (valor)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60320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9DB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ambiente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560320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9DB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produccion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54680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9DB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centro-de-costo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154680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9DB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pensiones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49040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9DB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proyecto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3749040"/>
            <a:ext cx="2926080" cy="4572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9DB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F3864"/>
                </a:solidFill>
                <a:latin typeface="Calibri"/>
              </a:rPr>
              <a:t>portal-afiliados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389120"/>
            <a:ext cx="2377440" cy="411480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1270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E7C3C"/>
                </a:solidFill>
                <a:latin typeface="Calibri"/>
              </a:rPr>
              <a:t>+ Agregar etiqueta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4389120"/>
            <a:ext cx="1737360" cy="41148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Guardar</a:t>
            </a:r>
          </a:p>
        </p:txBody>
      </p:sp>
      <p:sp>
        <p:nvSpPr>
          <p:cNvPr id="17" name="Oval 16"/>
          <p:cNvSpPr/>
          <p:nvPr/>
        </p:nvSpPr>
        <p:spPr>
          <a:xfrm>
            <a:off x="3566160" y="2606040"/>
            <a:ext cx="310896" cy="310896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343400"/>
            <a:ext cx="310896" cy="310896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4343400"/>
            <a:ext cx="310896" cy="310896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7818120" y="1828800"/>
            <a:ext cx="292608" cy="292608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7830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Cada fila es un par clave=valor. Usa las mismas claves en TODOS los recursos.</a:t>
            </a:r>
          </a:p>
        </p:txBody>
      </p:sp>
      <p:sp>
        <p:nvSpPr>
          <p:cNvPr id="22" name="Oval 21"/>
          <p:cNvSpPr/>
          <p:nvPr/>
        </p:nvSpPr>
        <p:spPr>
          <a:xfrm>
            <a:off x="7818120" y="2834640"/>
            <a:ext cx="292608" cy="292608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889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+ Agregar: añades tantas etiquetas como necesites (ambiente, centro-de-costo, proyecto…).</a:t>
            </a:r>
          </a:p>
        </p:txBody>
      </p:sp>
      <p:sp>
        <p:nvSpPr>
          <p:cNvPr id="24" name="Oval 23"/>
          <p:cNvSpPr/>
          <p:nvPr/>
        </p:nvSpPr>
        <p:spPr>
          <a:xfrm>
            <a:off x="7818120" y="3840480"/>
            <a:ext cx="292608" cy="292608"/>
          </a:xfrm>
          <a:prstGeom prst="ellipse">
            <a:avLst/>
          </a:prstGeom>
          <a:solidFill>
            <a:srgbClr val="B02A2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7947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Guardar: al instante el recurso queda etiquetado y su costo se podrá agrupar por esa etiqueta.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1">
                <a:solidFill>
                  <a:srgbClr val="595959"/>
                </a:solidFill>
                <a:latin typeface="Calibri"/>
              </a:rPr>
              <a:t>Esquema didáctico de la interfaz (no es una captura real).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Arquitectura de ejemplo: recursos etiquetados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La misma web app — ahora cada pieza sabe a qué área y proyecto pertenece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23774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App (VM)</a:t>
            </a:r>
          </a:p>
        </p:txBody>
      </p:sp>
      <p:pic>
        <p:nvPicPr>
          <p:cNvPr id="5" name="Picture 4" descr="az-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121408"/>
            <a:ext cx="548640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92040" y="2011680"/>
            <a:ext cx="23774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Base de datos</a:t>
            </a:r>
          </a:p>
        </p:txBody>
      </p:sp>
      <p:pic>
        <p:nvPicPr>
          <p:cNvPr id="7" name="Picture 6" descr="az-sq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121408"/>
            <a:ext cx="548640" cy="548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0" y="2011680"/>
            <a:ext cx="23774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Storage</a:t>
            </a:r>
          </a:p>
        </p:txBody>
      </p:sp>
      <p:pic>
        <p:nvPicPr>
          <p:cNvPr id="9" name="Picture 8" descr="az-stor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2121408"/>
            <a:ext cx="548640" cy="548640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3520440" y="2468880"/>
            <a:ext cx="1280160" cy="36576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315200" y="2468880"/>
            <a:ext cx="1280160" cy="36576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3657600"/>
            <a:ext cx="9966960" cy="914400"/>
          </a:xfrm>
          <a:prstGeom prst="roundRect">
            <a:avLst>
              <a:gd name="adj" fmla="val 6000"/>
            </a:avLst>
          </a:prstGeom>
          <a:solidFill>
            <a:srgbClr val="E8F4EC"/>
          </a:solidFill>
          <a:ln w="19050">
            <a:solidFill>
              <a:srgbClr val="1E7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E7C3C"/>
                </a:solidFill>
                <a:latin typeface="Calibri"/>
              </a:rPr>
              <a:t>Etiquetas en los tres recursos:   ambiente=produccion   ·   centro-de-costo=pensiones   ·   proyecto=portal-afiliados</a:t>
            </a:r>
          </a:p>
        </p:txBody>
      </p:sp>
      <p:pic>
        <p:nvPicPr>
          <p:cNvPr id="13" name="Picture 12" descr="az-ta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03320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333333"/>
                </a:solidFill>
                <a:latin typeface="Calibri"/>
              </a:rPr>
              <a:t>Con las mismas etiquetas en cada recurso, Cost Analysis suma TODO el gasto del proyecto «portal-afiliados» (VM + BD + storage), aunque estén en distintos grupos o suscripciones. Eso es asignación de costos.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Caso de uso: el costo huérfano (sin etiqueta)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Lo que no se etiqueta, no se asigna — y nadie lo reclama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 CREA UN RECURSO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alguien lo despliega con prisa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2888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61488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SIN ETIQUETAS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no le pone ambiente ni área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91456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0056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B0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CAE EN '(SIN ETIQUETA)'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costo que no se puede asignar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50024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78624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 DETECTA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filtras Cost Analysis por 'tag vacío'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08592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37192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 ETIQUETA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queda asignado a su dueño</a:t>
            </a:r>
          </a:p>
        </p:txBody>
      </p:sp>
      <p:pic>
        <p:nvPicPr>
          <p:cNvPr id="13" name="Picture 12" descr="server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08960"/>
            <a:ext cx="3931920" cy="2621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57607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Racks de servidores · Wikimedia Commons · CC BY 4.0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00400"/>
            <a:ext cx="6858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Por qué es un problema:</a:t>
            </a:r>
          </a:p>
          <a:p>
            <a:pPr algn="l" indent="-137160" marL="182880">
              <a:spcBef>
                <a:spcPts val="0"/>
              </a:spcBef>
              <a:spcAft>
                <a:spcPts val="7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El costo huérfano infla el total sin dueño; nadie lo revisa ni lo optimiza.</a:t>
            </a:r>
          </a:p>
          <a:p>
            <a:pPr algn="l" indent="-137160" marL="182880">
              <a:spcBef>
                <a:spcPts val="0"/>
              </a:spcBef>
              <a:spcAft>
                <a:spcPts val="7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En Azure y AWS aparece como '(sin etiqueta)' / 'No tag key'. Se detecta filtrando por etiqueta vacía.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00" b="0" i="0">
                <a:solidFill>
                  <a:srgbClr val="1E7C3C"/>
                </a:solidFill>
                <a:latin typeface="Calibri"/>
              </a:rPr>
              <a:t>La cura: etiquetar retroactivamente y, mejor aún, EXIGIR etiquetas al crear (Azure Policy, S5).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Caso de uso: el recurso compartido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Cuando un recurso sirve a varias áreas, ¿cómo se reparte el costo?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RECURSO COMPARTIDO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una BD la usan 3 áreas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2888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61488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8A6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¿DE QUIÉN ES?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no hay un solo dueño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91456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0056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REGLA DE REPARTO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% por uso o partes iguales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50024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78624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COST ALLOCATION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Azure reparte el costo según la regla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08592" y="2075688"/>
            <a:ext cx="219456" cy="274320"/>
          </a:xfrm>
          <a:prstGeom prst="rightArrow">
            <a:avLst/>
          </a:prstGeom>
          <a:solidFill>
            <a:srgbClr val="9DB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37192" y="173736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CADA ÁREA VE SU PARTE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showback justo</a:t>
            </a:r>
          </a:p>
        </p:txBody>
      </p:sp>
      <p:pic>
        <p:nvPicPr>
          <p:cNvPr id="13" name="Picture 12" descr="data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200400"/>
            <a:ext cx="3931920" cy="261104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35240" y="58064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95959"/>
                </a:solidFill>
                <a:latin typeface="Calibri"/>
              </a:rPr>
              <a:t>Data center · Wikimedia Commons · CC BY-SA 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00400"/>
            <a:ext cx="6858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Cómo se resuelve — en cualquier nube:</a:t>
            </a:r>
          </a:p>
          <a:p>
            <a:pPr algn="l" indent="-137160" marL="182880">
              <a:spcBef>
                <a:spcPts val="0"/>
              </a:spcBef>
              <a:spcAft>
                <a:spcPts val="7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No todo tiene un dueño único: redes, un clúster compartido, una BD central.</a:t>
            </a:r>
          </a:p>
          <a:p>
            <a:pPr algn="l" indent="-137160" marL="182880">
              <a:spcBef>
                <a:spcPts val="0"/>
              </a:spcBef>
              <a:spcAft>
                <a:spcPts val="7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Se define una regla de reparto (proporcional al uso, o partes iguales entre áreas).</a:t>
            </a:r>
          </a:p>
          <a:p>
            <a:pPr algn="l" indent="-137160" marL="182880">
              <a:spcBef>
                <a:spcPts val="0"/>
              </a:spcBef>
              <a:spcAft>
                <a:spcPts val="700"/>
              </a:spcAft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Azure Cost Management tiene 'cost allocation rules'; AWS usa 'cost categories'. Aplican la regla automáticamente.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00" b="0" i="0">
                <a:solidFill>
                  <a:srgbClr val="1E7C3C"/>
                </a:solidFill>
                <a:latin typeface="Calibri"/>
              </a:rPr>
              <a:t>Lección: acuerda la regla ANTES; lo importante es que sea justa y transparente.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Que el etiquetado no dependa de la buena memoria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El paso que hace que las etiquetas de verdad existan</a:t>
            </a:r>
          </a:p>
        </p:txBody>
      </p:sp>
      <p:pic>
        <p:nvPicPr>
          <p:cNvPr id="4" name="Picture 3" descr="az-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128016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77440" y="1920240"/>
            <a:ext cx="8961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1F3864"/>
                </a:solidFill>
                <a:latin typeface="Calibri"/>
              </a:rPr>
              <a:t>El problema humano: si etiquetar es opcional, la mitad de los recursos quedan sin etiqueta.</a:t>
            </a:r>
          </a:p>
          <a:p>
            <a:pPr algn="l" indent="-137160" marL="182880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Azure Policy puede EXIGIR una etiqueta al crear un recurso (si falta, lo bloquea o la hereda del grupo).</a:t>
            </a:r>
          </a:p>
          <a:p>
            <a:pPr algn="l" indent="-137160" marL="182880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También puede corregir en masa: aplicar una etiqueta a todo lo existente.</a:t>
            </a:r>
          </a:p>
          <a:p>
            <a:pPr algn="l" indent="-137160" marL="182880">
              <a:spcBef>
                <a:spcPts val="0"/>
              </a:spcBef>
              <a:spcAft>
                <a:spcPts val="9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En AWS: Tag Policies y Service Control Policies en Organizations hacen lo mismo.</a:t>
            </a:r>
          </a:p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1E7C3C"/>
                </a:solidFill>
                <a:latin typeface="Calibri"/>
              </a:rPr>
              <a:t>Lo veremos a fondo en la Sesión 5 (Gobierno). Hoy basta con saber que el etiquetado manual se refuerza con políticas.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La regla de oro de la Sesión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El cimiento de la asignación de costos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2103120"/>
            <a:ext cx="9601200" cy="155448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457200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1">
                <a:solidFill>
                  <a:srgbClr val="FFFFFF"/>
                </a:solidFill>
                <a:latin typeface="Calibri"/>
              </a:rPr>
              <a:t>«Lo que no se etiqueta, no se puede asignar; lo que no se asigna, no tiene dueño; y lo que no tiene dueño, nadie lo optimiza.»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1148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Etiquetar es la tarea menos glamorosa y más rentable de FinOps.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681728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Pocas etiquetas, consistentes y obligatorias, valen más que muchas opcionales.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248656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Con ellas, la S3 (presupuestos) y la S4 (optimización) se pueden hacer POR ÁREA.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Laboratorio de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Etiqueta tus recursos y reparte el gasto por área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Organiza y crea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Creas 2 grupos de recursos (dos 'áreas') y despliegas un recurso en cada uno.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1 · 20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Etiqueta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Aplicas las etiquetas del curso (ambiente, centro-de-costo, proyecto) a cada recurso.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178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2 · 25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920240"/>
            <a:ext cx="352044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914400" wrap="square"/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Reparte y reporta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95959"/>
                </a:solidFill>
                <a:latin typeface="Calibri"/>
              </a:rPr>
              <a:t>En Cost Analysis agrupas por etiqueta y explicas cuánto gastó cada 'área'.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920240"/>
            <a:ext cx="3520440" cy="594360"/>
          </a:xfrm>
          <a:prstGeom prst="roundRect">
            <a:avLst>
              <a:gd name="adj" fmla="val 6000"/>
            </a:avLst>
          </a:prstGeom>
          <a:solidFill>
            <a:srgbClr val="1E7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Parte 3 · 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20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333333"/>
                </a:solidFill>
                <a:latin typeface="Calibri"/>
              </a:rPr>
              <a:t>Nota: los costos por etiqueta aparecen en Cost Analysis con la latencia de facturación (8–24 h). En clase practicas el AGRUPAR por etiqueta con lo que haya; lo importante es dejar todo etiquetado. Al terminar, elimina los recursos.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1A1A1A"/>
                </a:solidFill>
                <a:latin typeface="Calibri"/>
              </a:rPr>
              <a:t>Puente a la Sesión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</a:rPr>
              <a:t>Ya sabes de quién es cada peso — ahora ponle un límite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2103120"/>
            <a:ext cx="9601200" cy="146304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457200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1">
                <a:solidFill>
                  <a:srgbClr val="FFFFFF"/>
                </a:solidFill>
                <a:latin typeface="Calibri"/>
              </a:rPr>
              <a:t>Con el gasto asignado por área y proyecto, ya puedes ponerle PRESUPUESTOS y ALERTAS a cada uno. La S3: budgets, alertas y detección de anomalías — que te avisan antes de que la factura sorprenda.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02336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Hoy: organización, etiquetas y asignación (showback).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5720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S3: presupuestos y alertas POR etiqueta/área, y anomalías.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12064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137160" marL="18288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350" b="0" i="0">
                <a:solidFill>
                  <a:srgbClr val="333333"/>
                </a:solidFill>
                <a:latin typeface="Calibri"/>
              </a:rPr>
              <a:t>Tarea: deja tus recursos etiquetados con las claves del curso.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8542"/>
                </a:solidFill>
                <a:latin typeface="Calibri"/>
              </a:rPr>
              <a:t>ean  ·  educación continua   |   88-EAN · FinOps y Optimización de Costos Cloud · Sesión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