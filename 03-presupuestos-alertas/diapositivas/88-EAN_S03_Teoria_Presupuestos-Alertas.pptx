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A651"/>
              </a:gs>
              <a:gs pos="100000">
                <a:srgbClr val="003DA5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Sesión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Presupuestos, alertas y anomalías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Ponle un límite al gasto y que el sistema te avise ANTES de que la factura sorprenda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De reaccionar a fin de mes a anticipar: presupuestar, alertar y detectar lo anómalo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Jawy Andrés Romero Pinto   ·  Curso 88-EAN · Universidad Ean · Educación Continua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06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2 horas  ·  Microsoft Azure (Azure for Students) · con equivalencias en AWS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Agenda de la sesión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De ver y asignar a CONTROLAR el gasto antes de que ocurra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481328"/>
            <a:ext cx="566928" cy="566928"/>
          </a:xfrm>
          <a:prstGeom prst="ellipse">
            <a:avLst/>
          </a:prstGeom>
          <a:solidFill>
            <a:srgbClr val="B0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¿?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44475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Por qué no basta con mirar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75564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Ver el gasto a fin de mes es llegar tarde.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304288"/>
            <a:ext cx="566928" cy="566928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BDG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26771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Presupuestos (budgets)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57860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Un límite planificado por área, proyecto o total.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27248"/>
            <a:ext cx="566928" cy="566928"/>
          </a:xfrm>
          <a:prstGeom prst="ellipse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!!!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09067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Alertas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40156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Que te avisen al 50%, 80%, 100% — antes del cierre.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950208"/>
            <a:ext cx="566928" cy="566928"/>
          </a:xfrm>
          <a:prstGeom prst="ellipse">
            <a:avLst/>
          </a:prstGeom>
          <a:solidFill>
            <a:srgbClr val="6B1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9136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Detección de anomalías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22452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Cuando el gasto se sale del patrón, aunque no toque el tope.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773168"/>
            <a:ext cx="566928" cy="566928"/>
          </a:xfrm>
          <a:prstGeom prst="ellipse">
            <a:avLst/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FCT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73659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Forecasting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04748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La proyección: ¿a cuánto vas a cerrar el mes?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596128"/>
            <a:ext cx="566928" cy="566928"/>
          </a:xfrm>
          <a:prstGeom prst="ellipse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555955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Laboratorio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87044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Creas un presupuesto con alertas y simulas el aviso.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De la Sesión 2 a la Sesión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Ya sabes de quién es cada peso — ahora ponle un límite y una alarma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25780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28600"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</a:rPr>
              <a:t>Sesiones 1–2 · Informar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Ves el gasto total (S1)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Lo asignas por área/proyecto con etiquetas (S2)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Sabes cuánto gastó cada uno… el mes pasado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Pero reaccionas TARDE, cuando ya se gastó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91640"/>
            <a:ext cx="5257800" cy="3977639"/>
          </a:xfrm>
          <a:prstGeom prst="roundRect">
            <a:avLst>
              <a:gd name="adj" fmla="val 6000"/>
            </a:avLst>
          </a:prstGeom>
          <a:solidFill>
            <a:srgbClr val="E8F4EC"/>
          </a:solidFill>
          <a:ln w="19050">
            <a:solidFill>
              <a:srgbClr val="1E7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28600"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E7C3C"/>
                </a:solidFill>
                <a:latin typeface="Calibri"/>
              </a:rPr>
              <a:t>Sesión 3 · empieza Optimizar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Pones un PRESUPUESTO por área/proyecto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ALERTAS que avisan al acercarse al límite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ANOMALÍAS que detectan gasto raro al instante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FORECAST: sabes cómo vas a cerrar el mes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61888" y="3534156"/>
            <a:ext cx="384048" cy="292608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El problema: la factura sorpresa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Mirar el gasto a fin de mes es como mirar el retrovisor</a:t>
            </a:r>
          </a:p>
        </p:txBody>
      </p:sp>
      <p:pic>
        <p:nvPicPr>
          <p:cNvPr id="4" name="Picture 3" descr="n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783080"/>
            <a:ext cx="41148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45720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95959"/>
                </a:solidFill>
                <a:latin typeface="Calibri"/>
              </a:rPr>
              <a:t>Centro de operaciones · Wikimedia Commons · CC BY-SA 3.0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Sin control proactivo:</a:t>
            </a:r>
          </a:p>
          <a:p>
            <a:pPr algn="l" indent="-137160" marL="182880">
              <a:spcBef>
                <a:spcPts val="0"/>
              </a:spcBef>
              <a:spcAft>
                <a:spcPts val="9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Un recurso mal dimensionado o un pico se descubre cuando llega la factura — 30 días tarde.</a:t>
            </a:r>
          </a:p>
          <a:p>
            <a:pPr algn="l" indent="-137160" marL="182880">
              <a:spcBef>
                <a:spcPts val="0"/>
              </a:spcBef>
              <a:spcAft>
                <a:spcPts val="9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Un ambiente de prueba olvidado puede duplicar el gasto del mes sin que nadie lo note.</a:t>
            </a:r>
          </a:p>
          <a:p>
            <a:pPr algn="l" indent="-137160" marL="182880">
              <a:spcBef>
                <a:spcPts val="0"/>
              </a:spcBef>
              <a:spcAft>
                <a:spcPts val="9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En una entidad pública, exceder el presupuesto asignado tiene consecuencias reales.</a:t>
            </a:r>
          </a:p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1E7C3C"/>
                </a:solidFill>
                <a:latin typeface="Calibri"/>
              </a:rPr>
              <a:t>La solución: PRESUPUESTAR + ALERTAR + detectar ANOMALÍAS. Que el sistema vigile por ti, en tiempo casi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Qué es un presupuesto (budget)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Un límite planificado + reglas de aviso — no frena el gasto, avisa</a:t>
            </a:r>
          </a:p>
        </p:txBody>
      </p:sp>
      <p:pic>
        <p:nvPicPr>
          <p:cNvPr id="4" name="Picture 3" descr="az-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1188720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1828800"/>
            <a:ext cx="9144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Un budget tiene tres partes:</a:t>
            </a:r>
          </a:p>
          <a:p>
            <a:pPr algn="l" indent="-137160" marL="182880">
              <a:spcBef>
                <a:spcPts val="0"/>
              </a:spcBef>
              <a:spcAft>
                <a:spcPts val="9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ALCANCE: a qué aplica (toda la suscripción, un grupo de recursos, o un filtro por etiqueta — p. ej. centro-de-costo=pensiones).</a:t>
            </a:r>
          </a:p>
          <a:p>
            <a:pPr algn="l" indent="-137160" marL="182880">
              <a:spcBef>
                <a:spcPts val="0"/>
              </a:spcBef>
              <a:spcAft>
                <a:spcPts val="9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MONTO y PERIODO: cuánto y cada cuánto (mensual, trimestral, anual).</a:t>
            </a:r>
          </a:p>
          <a:p>
            <a:pPr algn="l" indent="-137160" marL="182880">
              <a:spcBef>
                <a:spcPts val="0"/>
              </a:spcBef>
              <a:spcAft>
                <a:spcPts val="9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UMBRALES de alerta: a qué % del presupuesto avisar (50%, 80%, 100%) y a quién.</a:t>
            </a:r>
          </a:p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00" b="0" i="0">
                <a:solidFill>
                  <a:srgbClr val="B02A26"/>
                </a:solidFill>
                <a:latin typeface="Calibri"/>
              </a:rPr>
              <a:t>IMPORTANTE: un budget de Azure NO detiene el gasto (no apaga recursos). AVISA. El control lo ejerces tú (o una automatización).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¿A qué le pones presupuesto?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Gracias a las etiquetas de la S2, puedes presupuestar por área o proyecto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09728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Total de la suscripción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El techo global. Tu primera red de seguridad.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28016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907792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09728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Por grupo de recursos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Un proyecto o carga concreta (ese 'rg-pensiones').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07792"/>
            <a:ext cx="128016" cy="96012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3986784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09728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Por etiqueta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centro-de-costo=pensiones, aunque esté en varios grupos.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986784"/>
            <a:ext cx="128016" cy="960120"/>
          </a:xfrm>
          <a:prstGeom prst="rect">
            <a:avLst/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5065776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09728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Por servicio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Solo VMs, o solo almacenamiento, si quieres vigilar uno.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065776"/>
            <a:ext cx="128016" cy="960120"/>
          </a:xfrm>
          <a:prstGeom prst="rect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333333"/>
                </a:solidFill>
                <a:latin typeface="Calibri"/>
              </a:rPr>
              <a:t>Buena práctica: un presupuesto total (techo) + presupuestos por área/proyecto (para responsabilidad). Aquí se paga el etiquetado de la S2.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Alertas: avisar a tiempo, a quien debe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Umbrales escalonados — no una sola alarma al final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8412480" cy="731520"/>
          </a:xfrm>
          <a:prstGeom prst="rect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5257800" cy="731520"/>
          </a:xfrm>
          <a:prstGeom prst="rect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6080760.0" y="1965960"/>
            <a:ext cx="0.0" cy="1005840"/>
          </a:xfrm>
          <a:prstGeom prst="line">
            <a:avLst/>
          </a:prstGeom>
          <a:ln w="31750">
            <a:solidFill>
              <a:srgbClr val="1E7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15000" y="2971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7C3C"/>
                </a:solidFill>
                <a:latin typeface="Calibri"/>
              </a:rPr>
              <a:t>50%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235440.0" y="1965960"/>
            <a:ext cx="0.0" cy="1005840"/>
          </a:xfrm>
          <a:prstGeom prst="line">
            <a:avLst/>
          </a:prstGeom>
          <a:ln w="31750">
            <a:solidFill>
              <a:srgbClr val="8A6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869680" y="2971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D1F"/>
                </a:solidFill>
                <a:latin typeface="Calibri"/>
              </a:rPr>
              <a:t>80%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338560.0" y="1965960"/>
            <a:ext cx="0.0" cy="1005840"/>
          </a:xfrm>
          <a:prstGeom prst="line">
            <a:avLst/>
          </a:prstGeom>
          <a:ln w="31750">
            <a:solidFill>
              <a:srgbClr val="B0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972800" y="2971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02A26"/>
                </a:solidFill>
                <a:latin typeface="Calibri"/>
              </a:rPr>
              <a:t>100%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200400"/>
            <a:ext cx="128016" cy="640080"/>
          </a:xfrm>
          <a:prstGeom prst="rect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20040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7C3C"/>
                </a:solidFill>
                <a:latin typeface="Calibri"/>
              </a:rPr>
              <a:t>50% · aviso temprano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49300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«Vas por la mitad del presupuesto». Informativo, al equipo.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023360"/>
            <a:ext cx="128016" cy="640080"/>
          </a:xfrm>
          <a:prstGeom prst="rect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02336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8A6D1F"/>
                </a:solidFill>
                <a:latin typeface="Calibri"/>
              </a:rPr>
              <a:t>80% · atención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31596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«Te acercas al límite». Al dueño del área para que revise.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846320"/>
            <a:ext cx="128016" cy="640080"/>
          </a:xfrm>
          <a:prstGeom prst="rect">
            <a:avLst/>
          </a:prstGeom>
          <a:solidFill>
            <a:srgbClr val="B0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84632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B02A26"/>
                </a:solidFill>
                <a:latin typeface="Calibri"/>
              </a:rPr>
              <a:t>100% · acción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13892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«Alcanzaste el presupuesto». Al dueño + finanzas; decidir.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06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333333"/>
                </a:solidFill>
                <a:latin typeface="Calibri"/>
              </a:rPr>
              <a:t>La alerta llega por correo (o a un action group: Teams, webhook…). Escalar a la persona correcta en cada umbral es lo que la hace útil.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Anatomía: crear un presupuesto en Azure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La pantalla de Budgets — paso a paso lo que harás en el lab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704088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7040880" cy="4572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Cost Management  ›  Budgets  ›  + Add</a:t>
            </a:r>
          </a:p>
        </p:txBody>
      </p:sp>
      <p:pic>
        <p:nvPicPr>
          <p:cNvPr id="6" name="Picture 5" descr="az-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45920"/>
            <a:ext cx="365760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2331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95959"/>
                </a:solidFill>
                <a:latin typeface="Calibri"/>
              </a:rPr>
              <a:t>Nombre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2286000"/>
            <a:ext cx="4480560" cy="3840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9DB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budget-pensiones-mensual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95959"/>
                </a:solidFill>
                <a:latin typeface="Calibri"/>
              </a:rPr>
              <a:t>Alcance / filtro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2834640"/>
            <a:ext cx="4480560" cy="3840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9DB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Tag: centro-de-costo = pensiones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29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95959"/>
                </a:solidFill>
                <a:latin typeface="Calibri"/>
              </a:rPr>
              <a:t>Periodo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3383280"/>
            <a:ext cx="4480560" cy="3840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9DB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Mensual (se reinicia cada mes)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3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95959"/>
                </a:solidFill>
                <a:latin typeface="Calibri"/>
              </a:rPr>
              <a:t>Monto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3931919"/>
            <a:ext cx="4480560" cy="3840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9DB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$ 500 USD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17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95959"/>
                </a:solidFill>
                <a:latin typeface="Calibri"/>
              </a:rPr>
              <a:t>Umbrales de alerta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40" y="4572000"/>
            <a:ext cx="914400" cy="3657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1E7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7C3C"/>
                </a:solidFill>
                <a:latin typeface="Calibri"/>
              </a:rPr>
              <a:t>☑ 50%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86200" y="4572000"/>
            <a:ext cx="914400" cy="3657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8A6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8A6D1F"/>
                </a:solidFill>
                <a:latin typeface="Calibri"/>
              </a:rPr>
              <a:t>☑ 80%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4572000"/>
            <a:ext cx="914400" cy="3657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B0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02A26"/>
                </a:solidFill>
                <a:latin typeface="Calibri"/>
              </a:rPr>
              <a:t>☑ 100%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120640"/>
            <a:ext cx="4206240" cy="3840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9DB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F3864"/>
                </a:solidFill>
                <a:latin typeface="Calibri"/>
              </a:rPr>
              <a:t>Avisar a:  jromero@colpensiones.gov.co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80" y="5120640"/>
            <a:ext cx="2103120" cy="384048"/>
          </a:xfrm>
          <a:prstGeom prst="roundRect">
            <a:avLst>
              <a:gd name="adj" fmla="val 6000"/>
            </a:avLst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Crear</a:t>
            </a:r>
          </a:p>
        </p:txBody>
      </p:sp>
      <p:sp>
        <p:nvSpPr>
          <p:cNvPr id="21" name="Oval 20"/>
          <p:cNvSpPr/>
          <p:nvPr/>
        </p:nvSpPr>
        <p:spPr>
          <a:xfrm>
            <a:off x="2743200" y="2834640"/>
            <a:ext cx="310896" cy="310896"/>
          </a:xfrm>
          <a:prstGeom prst="ellipse">
            <a:avLst/>
          </a:prstGeom>
          <a:solidFill>
            <a:srgbClr val="B02A2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Oval 21"/>
          <p:cNvSpPr/>
          <p:nvPr/>
        </p:nvSpPr>
        <p:spPr>
          <a:xfrm>
            <a:off x="2743200" y="3931920"/>
            <a:ext cx="310896" cy="310896"/>
          </a:xfrm>
          <a:prstGeom prst="ellipse">
            <a:avLst/>
          </a:prstGeom>
          <a:solidFill>
            <a:srgbClr val="B02A2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Oval 22"/>
          <p:cNvSpPr/>
          <p:nvPr/>
        </p:nvSpPr>
        <p:spPr>
          <a:xfrm>
            <a:off x="2514600" y="4572000"/>
            <a:ext cx="310896" cy="310896"/>
          </a:xfrm>
          <a:prstGeom prst="ellipse">
            <a:avLst/>
          </a:prstGeom>
          <a:solidFill>
            <a:srgbClr val="B02A2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Oval 23"/>
          <p:cNvSpPr/>
          <p:nvPr/>
        </p:nvSpPr>
        <p:spPr>
          <a:xfrm>
            <a:off x="5029200" y="5120640"/>
            <a:ext cx="310896" cy="310896"/>
          </a:xfrm>
          <a:prstGeom prst="ellipse">
            <a:avLst/>
          </a:prstGeom>
          <a:solidFill>
            <a:srgbClr val="B02A2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Oval 24"/>
          <p:cNvSpPr/>
          <p:nvPr/>
        </p:nvSpPr>
        <p:spPr>
          <a:xfrm>
            <a:off x="7818120" y="1783080"/>
            <a:ext cx="292608" cy="292608"/>
          </a:xfrm>
          <a:prstGeom prst="ellipse">
            <a:avLst/>
          </a:prstGeom>
          <a:solidFill>
            <a:srgbClr val="B02A2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173736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Alcance/filtro: a qué aplica. Con un filtro por etiqueta, presupuestas por área.</a:t>
            </a:r>
          </a:p>
        </p:txBody>
      </p:sp>
      <p:sp>
        <p:nvSpPr>
          <p:cNvPr id="27" name="Oval 26"/>
          <p:cNvSpPr/>
          <p:nvPr/>
        </p:nvSpPr>
        <p:spPr>
          <a:xfrm>
            <a:off x="7818120" y="2743200"/>
            <a:ext cx="292608" cy="292608"/>
          </a:xfrm>
          <a:prstGeom prst="ellipse">
            <a:avLst/>
          </a:prstGeom>
          <a:solidFill>
            <a:srgbClr val="B02A2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69748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Monto y periodo: el límite planificado y cada cuánto se reinicia.</a:t>
            </a:r>
          </a:p>
        </p:txBody>
      </p:sp>
      <p:sp>
        <p:nvSpPr>
          <p:cNvPr id="29" name="Oval 28"/>
          <p:cNvSpPr/>
          <p:nvPr/>
        </p:nvSpPr>
        <p:spPr>
          <a:xfrm>
            <a:off x="7818120" y="3703320"/>
            <a:ext cx="292608" cy="292608"/>
          </a:xfrm>
          <a:prstGeom prst="ellipse">
            <a:avLst/>
          </a:prstGeom>
          <a:solidFill>
            <a:srgbClr val="B02A2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65760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Umbrales: marca a qué % avisar (varios, escalonados).</a:t>
            </a:r>
          </a:p>
        </p:txBody>
      </p:sp>
      <p:sp>
        <p:nvSpPr>
          <p:cNvPr id="31" name="Oval 30"/>
          <p:cNvSpPr/>
          <p:nvPr/>
        </p:nvSpPr>
        <p:spPr>
          <a:xfrm>
            <a:off x="7818120" y="4663440"/>
            <a:ext cx="292608" cy="292608"/>
          </a:xfrm>
          <a:prstGeom prst="ellipse">
            <a:avLst/>
          </a:prstGeom>
          <a:solidFill>
            <a:srgbClr val="B02A2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61772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Destinatarios: quién recibe la alerta en cada umbral.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035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1">
                <a:solidFill>
                  <a:srgbClr val="595959"/>
                </a:solidFill>
                <a:latin typeface="Calibri"/>
              </a:rPr>
              <a:t>Esquema didáctico de la interfaz (no es una captura real). Cifras de ejemplo.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Detección de anomalías: lo que un presupuesto no 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Un gasto puede ser 'anormal' sin llegar al tope del presupuesto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4206240"/>
            <a:ext cx="6217920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731520" y="3364993"/>
            <a:ext cx="822960" cy="105155"/>
          </a:xfrm>
          <a:prstGeom prst="line">
            <a:avLst/>
          </a:prstGeom>
          <a:ln w="31750">
            <a:solidFill>
              <a:srgbClr val="1F4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54480" y="3364993"/>
            <a:ext cx="822960" cy="42062"/>
          </a:xfrm>
          <a:prstGeom prst="line">
            <a:avLst/>
          </a:prstGeom>
          <a:ln w="31750">
            <a:solidFill>
              <a:srgbClr val="1F4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377440" y="3322930"/>
            <a:ext cx="822960" cy="84125"/>
          </a:xfrm>
          <a:prstGeom prst="line">
            <a:avLst/>
          </a:prstGeom>
          <a:ln w="31750">
            <a:solidFill>
              <a:srgbClr val="1F4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3322930"/>
            <a:ext cx="822960" cy="42063"/>
          </a:xfrm>
          <a:prstGeom prst="line">
            <a:avLst/>
          </a:prstGeom>
          <a:ln w="31750">
            <a:solidFill>
              <a:srgbClr val="1F4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2313433"/>
            <a:ext cx="822960" cy="1051560"/>
          </a:xfrm>
          <a:prstGeom prst="line">
            <a:avLst/>
          </a:prstGeom>
          <a:ln w="31750">
            <a:solidFill>
              <a:srgbClr val="1F4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46320" y="2313433"/>
            <a:ext cx="822960" cy="946404"/>
          </a:xfrm>
          <a:prstGeom prst="line">
            <a:avLst/>
          </a:prstGeom>
          <a:ln w="31750">
            <a:solidFill>
              <a:srgbClr val="1F4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669280" y="3259837"/>
            <a:ext cx="822960" cy="42062"/>
          </a:xfrm>
          <a:prstGeom prst="line">
            <a:avLst/>
          </a:prstGeom>
          <a:ln w="31750">
            <a:solidFill>
              <a:srgbClr val="1F4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736592" y="2203705"/>
            <a:ext cx="219456" cy="219456"/>
          </a:xfrm>
          <a:prstGeom prst="ellipse">
            <a:avLst/>
          </a:prstGeom>
          <a:solidFill>
            <a:srgbClr val="B0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176479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02A26"/>
                </a:solidFill>
                <a:latin typeface="Calibri"/>
              </a:rPr>
              <a:t>¡anomalía!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95959"/>
                </a:solidFill>
                <a:latin typeface="Calibri"/>
              </a:rPr>
              <a:t>Gasto diario — un pico fuera del patrón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8288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Cómo funciona: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250" b="0" i="0">
                <a:solidFill>
                  <a:srgbClr val="333333"/>
                </a:solidFill>
                <a:latin typeface="Calibri"/>
              </a:rPr>
              <a:t>Azure/AWS aprenden tu patrón normal de gasto y avisan cuando algo se sale (un pico, un servicio nuevo caro).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250" b="0" i="0">
                <a:solidFill>
                  <a:srgbClr val="333333"/>
                </a:solidFill>
                <a:latin typeface="Calibri"/>
              </a:rPr>
              <a:t>Detecta lo que el budget no: un gasto raro a mitad de mes que todavía no toca el tope.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250" b="0" i="0">
                <a:solidFill>
                  <a:srgbClr val="333333"/>
                </a:solidFill>
                <a:latin typeface="Calibri"/>
              </a:rPr>
              <a:t>Ejemplos: una VM gigante encendida por error, egress disparado, un servicio que nadie autorizó.</a:t>
            </a:r>
          </a:p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250" b="0" i="0">
                <a:solidFill>
                  <a:srgbClr val="1E7C3C"/>
                </a:solidFill>
                <a:latin typeface="Calibri"/>
              </a:rPr>
              <a:t>Azure: 'anomaly alerts' en Cost Management. AWS: 'Cost Anomaly Detection'.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Forecasting: ¿a cuánto vas a cerrar el mes?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La proyección basada en tu tendencia — para anticipar, no reaccionar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5577840"/>
            <a:ext cx="6035040" cy="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2697480"/>
            <a:ext cx="6035040" cy="0"/>
          </a:xfrm>
          <a:prstGeom prst="line">
            <a:avLst/>
          </a:prstGeom>
          <a:ln w="25400">
            <a:solidFill>
              <a:srgbClr val="B0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0" y="24048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02A26"/>
                </a:solidFill>
                <a:latin typeface="Calibri"/>
              </a:rPr>
              <a:t>presupuesto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822960" y="5097780"/>
            <a:ext cx="640080" cy="288036"/>
          </a:xfrm>
          <a:prstGeom prst="line">
            <a:avLst/>
          </a:prstGeom>
          <a:ln w="38100">
            <a:solidFill>
              <a:srgbClr val="1F4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463040" y="4761738"/>
            <a:ext cx="640080" cy="336042"/>
          </a:xfrm>
          <a:prstGeom prst="line">
            <a:avLst/>
          </a:prstGeom>
          <a:ln w="38100">
            <a:solidFill>
              <a:srgbClr val="1F4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103120" y="4377690"/>
            <a:ext cx="640080" cy="384048"/>
          </a:xfrm>
          <a:prstGeom prst="line">
            <a:avLst/>
          </a:prstGeom>
          <a:ln w="38100">
            <a:solidFill>
              <a:srgbClr val="1F4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743200" y="3993642"/>
            <a:ext cx="640080" cy="384048"/>
          </a:xfrm>
          <a:prstGeom prst="line">
            <a:avLst/>
          </a:prstGeom>
          <a:ln w="38100">
            <a:solidFill>
              <a:srgbClr val="1F4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383280" y="3513583"/>
            <a:ext cx="640080" cy="480059"/>
          </a:xfrm>
          <a:prstGeom prst="line">
            <a:avLst/>
          </a:prstGeom>
          <a:ln w="31750">
            <a:solidFill>
              <a:srgbClr val="8A6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023360" y="2985516"/>
            <a:ext cx="640080" cy="528067"/>
          </a:xfrm>
          <a:prstGeom prst="line">
            <a:avLst/>
          </a:prstGeom>
          <a:ln w="31750">
            <a:solidFill>
              <a:srgbClr val="8A6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663440" y="2505456"/>
            <a:ext cx="640080" cy="480060"/>
          </a:xfrm>
          <a:prstGeom prst="line">
            <a:avLst/>
          </a:prstGeom>
          <a:ln w="31750">
            <a:solidFill>
              <a:srgbClr val="8A6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60120" y="47137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4E9C"/>
                </a:solidFill>
                <a:latin typeface="Calibri"/>
              </a:rPr>
              <a:t>real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12953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8A6D1F"/>
                </a:solidFill>
                <a:latin typeface="Calibri"/>
              </a:rPr>
              <a:t>proyección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82880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La proyección responde: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250" b="0" i="0">
                <a:solidFill>
                  <a:srgbClr val="333333"/>
                </a:solidFill>
                <a:latin typeface="Calibri"/>
              </a:rPr>
              <a:t>«Si sigues a este ritmo, cerrarás el mes en $X» — y Cost Analysis te lo dibuja.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250" b="0" i="0">
                <a:solidFill>
                  <a:srgbClr val="333333"/>
                </a:solidFill>
                <a:latin typeface="Calibri"/>
              </a:rPr>
              <a:t>Si la proyección CRUZA el presupuesto (línea roja), tienes tiempo de actuar ANTES.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250" b="0" i="0">
                <a:solidFill>
                  <a:srgbClr val="333333"/>
                </a:solidFill>
                <a:latin typeface="Calibri"/>
              </a:rPr>
              <a:t>Convierte el control de reactivo (a fin de mes) en anticipado (a mitad de mes).</a:t>
            </a:r>
          </a:p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250" b="0" i="0">
                <a:solidFill>
                  <a:srgbClr val="1E7C3C"/>
                </a:solidFill>
                <a:latin typeface="Calibri"/>
              </a:rPr>
              <a:t>Es la base para conversar con finanzas: no 'gastamos de más', sino 'vamos a gastar de más si no hacemos algo'.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Control de gasto multi-nube: Azure ↔ 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Mismos conceptos; herramientas equivalentes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5959"/>
                </a:solidFill>
                <a:latin typeface="Calibri"/>
              </a:rPr>
              <a:t>NECESIDAD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4E9C"/>
                </a:solidFill>
                <a:latin typeface="Calibri"/>
              </a:rPr>
              <a:t>AZURE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8A6D1F"/>
                </a:solidFill>
                <a:latin typeface="Calibri"/>
              </a:rPr>
              <a:t>AWS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109728" cy="548640"/>
          </a:xfrm>
          <a:prstGeom prst="rect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5856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Presupuestos</a:t>
            </a:r>
          </a:p>
        </p:txBody>
      </p:sp>
      <p:pic>
        <p:nvPicPr>
          <p:cNvPr id="9" name="Picture 8" descr="az-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21992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74920" y="225856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Azure Budgets</a:t>
            </a:r>
          </a:p>
        </p:txBody>
      </p:sp>
      <p:pic>
        <p:nvPicPr>
          <p:cNvPr id="11" name="Picture 10" descr="aws-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2221992"/>
            <a:ext cx="384048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0" y="225856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AWS Budgets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98648"/>
            <a:ext cx="109728" cy="548640"/>
          </a:xfrm>
          <a:prstGeom prst="rect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08376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Alertas de gasto</a:t>
            </a:r>
          </a:p>
        </p:txBody>
      </p:sp>
      <p:pic>
        <p:nvPicPr>
          <p:cNvPr id="15" name="Picture 14" descr="az-moni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971800"/>
            <a:ext cx="384048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74920" y="300837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Budget alerts / Azure Monitor</a:t>
            </a:r>
          </a:p>
        </p:txBody>
      </p:sp>
      <p:pic>
        <p:nvPicPr>
          <p:cNvPr id="17" name="Picture 16" descr="aws-cloudwat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79" y="2971800"/>
            <a:ext cx="384048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0" y="300837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Budget alerts / CloudWatch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648456"/>
            <a:ext cx="109728" cy="548640"/>
          </a:xfrm>
          <a:prstGeom prst="rect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758184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Detección de anomalías</a:t>
            </a:r>
          </a:p>
        </p:txBody>
      </p:sp>
      <p:pic>
        <p:nvPicPr>
          <p:cNvPr id="21" name="Picture 20" descr="az-co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721608"/>
            <a:ext cx="384048" cy="384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74920" y="375818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Cost anomaly alerts</a:t>
            </a:r>
          </a:p>
        </p:txBody>
      </p:sp>
      <p:pic>
        <p:nvPicPr>
          <p:cNvPr id="23" name="Picture 22" descr="aws-co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879" y="3721608"/>
            <a:ext cx="384048" cy="3840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686800" y="375818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AWS Cost Anomaly Detection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98264"/>
            <a:ext cx="109728" cy="548640"/>
          </a:xfrm>
          <a:prstGeom prst="rect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50799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Forecast</a:t>
            </a:r>
          </a:p>
        </p:txBody>
      </p:sp>
      <p:pic>
        <p:nvPicPr>
          <p:cNvPr id="27" name="Picture 26" descr="az-co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4471416"/>
            <a:ext cx="384048" cy="3840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074920" y="450799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Cost Analysis (forecast)</a:t>
            </a:r>
          </a:p>
        </p:txBody>
      </p:sp>
      <p:pic>
        <p:nvPicPr>
          <p:cNvPr id="29" name="Picture 28" descr="aws-co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879" y="4471416"/>
            <a:ext cx="384048" cy="3840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86800" y="450799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Cost Explorer (forecast)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333333"/>
                </a:solidFill>
                <a:latin typeface="Calibri"/>
              </a:rPr>
              <a:t>El principio es universal: presupuesto + alerta + anomalía + forecast. Practicas en Azure; el marco se traslada a AWS.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3550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595959"/>
                </a:solidFill>
                <a:latin typeface="Calibri"/>
              </a:rPr>
              <a:t>Iconos oficiales de Microsoft Azure y Amazon Web Services, usados con fines de capacitación según sus términos.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Caso de uso: el pico que la alerta atrapó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Cómo presupuesto + anomalía evitan la factura sorpresa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3736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VM GIGANTE POR ERROR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alguien la crea un viernes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2888" y="2075688"/>
            <a:ext cx="219456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61488" y="173736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B0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EL GASTO SE DISPARA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muy por encima del patrón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91456" y="2075688"/>
            <a:ext cx="219456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0056" y="173736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ANOMALÍA DETECTADA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el sistema lo nota en horas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50024" y="2075688"/>
            <a:ext cx="219456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78624" y="173736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ALERTA AL DUEÑO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correo el sábado, no a fin de mes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08592" y="2075688"/>
            <a:ext cx="219456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37192" y="173736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 APAGA A TIEMPO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daño de horas, no de un mes</a:t>
            </a:r>
          </a:p>
        </p:txBody>
      </p:sp>
      <p:pic>
        <p:nvPicPr>
          <p:cNvPr id="13" name="Picture 12" descr="serverroo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108960"/>
            <a:ext cx="3931920" cy="2621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57607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Calibri"/>
              </a:rPr>
              <a:t>Racks de servidores · Wikimedia Commons · CC BY 4.0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200400"/>
            <a:ext cx="6858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La diferencia que hace el control proactivo:</a:t>
            </a:r>
          </a:p>
          <a:p>
            <a:pPr algn="l" indent="-137160" marL="182880">
              <a:spcBef>
                <a:spcPts val="0"/>
              </a:spcBef>
              <a:spcAft>
                <a:spcPts val="7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SIN alertas: el error se descubre con la factura, 30 días y miles de pesos después.</a:t>
            </a:r>
          </a:p>
          <a:p>
            <a:pPr algn="l" indent="-137160" marL="182880">
              <a:spcBef>
                <a:spcPts val="0"/>
              </a:spcBef>
              <a:spcAft>
                <a:spcPts val="7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CON presupuesto + anomalía: el aviso llega en horas; el sobrecosto es de un fin de semana, no de un mes.</a:t>
            </a:r>
          </a:p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00" b="0" i="0">
                <a:solidFill>
                  <a:srgbClr val="1E7C3C"/>
                </a:solidFill>
                <a:latin typeface="Calibri"/>
              </a:rPr>
              <a:t>Igual en Azure (anomaly alerts) y AWS (Cost Anomaly Detection). El patrón se aprende solo.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La regla de oro de la Sesión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El cambio de mentalidad que trae el control de gasto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2103120"/>
            <a:ext cx="9601200" cy="155448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457200"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1">
                <a:solidFill>
                  <a:srgbClr val="FFFFFF"/>
                </a:solidFill>
                <a:latin typeface="Calibri"/>
              </a:rPr>
              <a:t>«El objetivo no es enterarte de que gastaste de más. Es que el sistema te avise ANTES, cuando todavía puedes hacer algo.»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11480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Presupuesto = plan; alerta = aviso; anomalía = lo inesperado; forecast = anticipación.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681728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Escala la alerta a la persona correcta en cada umbral (50/80/100%).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5248656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Con esto pasas de mirar el retrovisor a mirar el camino.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Laboratorio de hoy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Crea un presupuesto con alertas y entiende el forecast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20240"/>
            <a:ext cx="352044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91440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Crea un presupuesto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En Cost Management → Budgets creas uno mensual con alcance por etiqueta y monto.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3520440" cy="594360"/>
          </a:xfrm>
          <a:prstGeom prst="roundRect">
            <a:avLst>
              <a:gd name="adj" fmla="val 6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Parte 1 · 20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20240"/>
            <a:ext cx="352044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91440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Configura las alertas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Añades umbrales 50/80/100% y el correo destinatario; entiendes cada campo.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520440" cy="594360"/>
          </a:xfrm>
          <a:prstGeom prst="roundRect">
            <a:avLst>
              <a:gd name="adj" fmla="val 6000"/>
            </a:avLst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Parte 2 · 25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920240"/>
            <a:ext cx="352044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91440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Lee el forecast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En Cost Analysis activas la proyección y la comparas con tu presupuesto.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920240"/>
            <a:ext cx="3520440" cy="594360"/>
          </a:xfrm>
          <a:prstGeom prst="roundRect">
            <a:avLst>
              <a:gd name="adj" fmla="val 6000"/>
            </a:avLst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Parte 3 · 15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20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333333"/>
                </a:solidFill>
                <a:latin typeface="Calibri"/>
              </a:rPr>
              <a:t>El presupuesto no gasta crédito (es solo una regla de aviso). Como una cuenta nueva tiene poco historial, el forecast puede ser aproximado — lo importante es entender los campos y para qué sirve cada uno. El presupuesto puedes dejarlo creado sin costo.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Puente a la Sesión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Ya controlas el gasto — ahora vamos a REDUCIR el que no genera valor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2103120"/>
            <a:ext cx="9601200" cy="146304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1">
                <a:solidFill>
                  <a:srgbClr val="FFFFFF"/>
                </a:solidFill>
                <a:latin typeface="Calibri"/>
              </a:rPr>
              <a:t>Presupuestos y alertas te dicen CUÁNDO actuar. La S4 te dice CÓMO reducir: rightsizing, apagar lo ocioso, eliminar desperdicio y comprar con descuento (reservas y savings plans).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02336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Hoy: presupuestos, alertas, anomalías y forecast (control proactivo).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57200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S4: optimización real — rightsizing, waste, Advisor, reservas vs savings plans.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512064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Tarea: deja creado un presupuesto con alertas en tu suscripción.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