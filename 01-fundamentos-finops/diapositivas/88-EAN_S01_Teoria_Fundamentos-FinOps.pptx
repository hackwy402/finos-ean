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A651"/>
              </a:gs>
              <a:gs pos="100000">
                <a:srgbClr val="003DA5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Sesión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Fundamentos de FinOps y visibilidad de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Qué es FinOps, por qué la nube cambió el modelo de costos, y cómo ver el gasto en 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No puedes optimizar lo que no ves: el punto de partida es la visibilidad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Jawy Andrés Romero Pinto   ·  Curso 88-EAN · Universidad Ean · Educación Continua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06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2 horas  ·  Plataforma: Microsoft Azure (cuentas Azure for Students)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Agenda de la sesión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Del modelo de costos de la nube a ver tu gasto en Azure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81328"/>
            <a:ext cx="566928" cy="566928"/>
          </a:xfrm>
          <a:prstGeom prst="ellipse">
            <a:avLst/>
          </a:prstGeom>
          <a:solidFill>
            <a:srgbClr val="B0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¿?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44475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Por qué la nube cambió el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75564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De CapEx a OpEx: gasto variable y descentralizado.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304288"/>
            <a:ext cx="566928" cy="566928"/>
          </a:xfrm>
          <a:prstGeom prst="ellipse">
            <a:avLst/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6771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Qué es (y qué no es) FinOps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57860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Cultura + práctica para maximizar el valor por cada peso.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27248"/>
            <a:ext cx="566928" cy="566928"/>
          </a:xfrm>
          <a:prstGeom prst="ellipse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CICLO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09067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El FinOps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40156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Informar → Optimizar → Operar, y quién colabora.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950208"/>
            <a:ext cx="566928" cy="566928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1363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Facturación de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22452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Jerarquía de cuentas y cómo se cobra el consumo.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773168"/>
            <a:ext cx="566928" cy="566928"/>
          </a:xfrm>
          <a:prstGeom prst="ellipse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73659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Cost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La herramienta para ver y analizar el gasto.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596128"/>
            <a:ext cx="566928" cy="566928"/>
          </a:xfrm>
          <a:prstGeom prst="ellipse">
            <a:avLst/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55955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Laboratorio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87044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Activas tu cuenta, exploras costos y estimas con la calculadora.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La nube cambió el modelo de costos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Y por eso hace falta una disciplina nueva: FinOps</a:t>
            </a:r>
          </a:p>
        </p:txBody>
      </p:sp>
      <p:pic>
        <p:nvPicPr>
          <p:cNvPr id="4" name="Picture 3" descr="datac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783080"/>
            <a:ext cx="4114800" cy="27324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45720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95959"/>
                </a:solidFill>
                <a:latin typeface="Calibri"/>
              </a:rPr>
              <a:t>Data center · Wikimedia Commons · CC BY-SA 3.0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578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28600"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Antes · centro de datos propio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Compras hardware por adelantado (CapEx)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Costo fijo y predecible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Aprovisionar = semanas, con aprobación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Pocas manos deciden el gasto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257800" cy="2743200"/>
          </a:xfrm>
          <a:prstGeom prst="roundRect">
            <a:avLst>
              <a:gd name="adj" fmla="val 6000"/>
            </a:avLst>
          </a:prstGeom>
          <a:solidFill>
            <a:srgbClr val="E8F4EC"/>
          </a:solidFill>
          <a:ln w="19050">
            <a:solidFill>
              <a:srgbClr val="1E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28600"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E7C3C"/>
                </a:solidFill>
                <a:latin typeface="Calibri"/>
              </a:rPr>
              <a:t>Ahora · nube (Azure)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Pagas por consumo, por hora/segundo (OpEx)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Costo variable: sube y baja con el uso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Aprovisionar = segundos, con un clic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CUALQUIER equipo puede gastar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2962656"/>
            <a:ext cx="384048" cy="292608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09160"/>
            <a:ext cx="6583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La consecuencia: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El gasto se volvió una decisión de ingeniería en tiempo real, no una compra anual. Sin visibilidad ni cultura de costos, la factura sorprende a fin de 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Qué es FinOps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Financial Operations: llevar responsabilidad financiera a la nube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9966960" cy="13716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457200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1">
                <a:solidFill>
                  <a:srgbClr val="FFFFFF"/>
                </a:solidFill>
                <a:latin typeface="Calibri"/>
              </a:rPr>
              <a:t>«FinOps es una práctica cultural y operativa que maximiza el VALOR de la nube, ayudando a los equipos de ingeniería, finanzas y negocio a colaborar en decisiones de gasto basadas en datos.»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46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— Adaptado de la FinOps Foundation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03320"/>
            <a:ext cx="26974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640080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No es solo TI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Une finanzas, ingeniería y negocio en una misma conversación.</a:t>
            </a:r>
          </a:p>
        </p:txBody>
      </p:sp>
      <p:sp>
        <p:nvSpPr>
          <p:cNvPr id="7" name="Oval 6"/>
          <p:cNvSpPr/>
          <p:nvPr/>
        </p:nvSpPr>
        <p:spPr>
          <a:xfrm>
            <a:off x="1664208" y="3840480"/>
            <a:ext cx="457200" cy="457200"/>
          </a:xfrm>
          <a:prstGeom prst="ellipse">
            <a:avLst/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3703320"/>
            <a:ext cx="26974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640080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No es un software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Es cultura + proceso; las herramientas ayudan, no reemplazan.</a:t>
            </a:r>
          </a:p>
        </p:txBody>
      </p:sp>
      <p:sp>
        <p:nvSpPr>
          <p:cNvPr id="9" name="Oval 8"/>
          <p:cNvSpPr/>
          <p:nvPr/>
        </p:nvSpPr>
        <p:spPr>
          <a:xfrm>
            <a:off x="4507992" y="3840480"/>
            <a:ext cx="457200" cy="457200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703320"/>
            <a:ext cx="26974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640080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No es 'recortar'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Es maximizar el valor por peso, no gastar lo mínimo.</a:t>
            </a:r>
          </a:p>
        </p:txBody>
      </p:sp>
      <p:sp>
        <p:nvSpPr>
          <p:cNvPr id="11" name="Oval 10"/>
          <p:cNvSpPr/>
          <p:nvPr/>
        </p:nvSpPr>
        <p:spPr>
          <a:xfrm>
            <a:off x="7351776" y="3840480"/>
            <a:ext cx="457200" cy="457200"/>
          </a:xfrm>
          <a:prstGeom prst="ellipse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9992" y="3703320"/>
            <a:ext cx="26974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640080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Es en tiempo real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Decisiones continuas, no un presupuesto anual congelado.</a:t>
            </a:r>
          </a:p>
        </p:txBody>
      </p:sp>
      <p:sp>
        <p:nvSpPr>
          <p:cNvPr id="13" name="Oval 12"/>
          <p:cNvSpPr/>
          <p:nvPr/>
        </p:nvSpPr>
        <p:spPr>
          <a:xfrm>
            <a:off x="10195560" y="3840480"/>
            <a:ext cx="457200" cy="457200"/>
          </a:xfrm>
          <a:prstGeom prst="ellipse">
            <a:avLst/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FinOps no es gastar menos: es gastar mejor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 pregunta no es «¿cuánto cuesta?» sino «¿vale lo que cuesta?»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28600"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Mentalidad de recorte (limitada)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Meta: bajar la factura a toda costa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Frena proyectos que sí generan valor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Optimiza el costo, ignora el retorno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'Apagar todo' también apaga el negocio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9164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E8F4EC"/>
          </a:solidFill>
          <a:ln w="19050">
            <a:solidFill>
              <a:srgbClr val="1E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28600"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E7C3C"/>
                </a:solidFill>
                <a:latin typeface="Calibri"/>
              </a:rPr>
              <a:t>Mentalidad FinOps (valor)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Meta: máximo valor de negocio por peso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Invierte donde hay retorno, recorta el desperdicio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Mide costo Y valor (unit economics)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veces la decisión correcta es gastar MÁS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61888" y="3534156"/>
            <a:ext cx="384048" cy="292608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Ejemplo: pagar más por una base de datos que sostiene el servicio de pensiones en línea puede ser la decisión correcta; pagar por 20 VMs encendidas sin uso, nunca.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El FinOps Framework: un ciclo continuo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Tres fases que se repiten — no un proyecto con fin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INFORMAR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visibilidad, asignación y
benchmarking del gasto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92040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OPTIMIZAR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rightsizing, eliminar
desperdicio, comprar bien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OPERAR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gobierno, cultura y
mejora continua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03320" y="2962656"/>
            <a:ext cx="1143000" cy="292608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7315200" y="2962656"/>
            <a:ext cx="1143000" cy="292608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ft Arrow 8"/>
          <p:cNvSpPr/>
          <p:nvPr/>
        </p:nvSpPr>
        <p:spPr>
          <a:xfrm>
            <a:off x="2377440" y="4617720"/>
            <a:ext cx="7680960" cy="320040"/>
          </a:xfrm>
          <a:prstGeom prst="leftArrow">
            <a:avLst/>
          </a:prstGeom>
          <a:solidFill>
            <a:srgbClr val="BF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5029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95959"/>
                </a:solidFill>
                <a:latin typeface="Calibri"/>
              </a:rPr>
              <a:t>…y vuelve a empezar (el gasto nunca deja de cambiar)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Este curso recorre el ciclo: hoy y la S2 = INFORMAR (ver y asignar); S3–S4 = OPTIMIZAR (presupuestos, rightsizing, compromisos); S5 = OPERAR (gobierno y cultura).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FinOps es un deporte de 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Nadie optimiza la nube solo — se necesita colaboración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05840" tIns="91440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Ingeniería / TI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Quien crea los recursos y puede apagarlos, redimensionarlos u optimizarlos.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984248"/>
            <a:ext cx="548640" cy="548640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62072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05840" tIns="91440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Finanzas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Presupuesta, hace forecasting, asigna costos y mide el retorno.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548640" cy="548640"/>
          </a:xfrm>
          <a:prstGeom prst="ellipse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4106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05840" tIns="91440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Negocio / Liderazgo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Define prioridades y qué valor se espera de cada peso invertido.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42232"/>
            <a:ext cx="548640" cy="548640"/>
          </a:xfrm>
          <a:prstGeom prst="ellipse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2005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05840" tIns="91440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Práctica FinOps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Facilita: datos, procesos y lenguaje común entre todos.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5221224"/>
            <a:ext cx="548640" cy="548640"/>
          </a:xfrm>
          <a:prstGeom prst="ellipse">
            <a:avLst/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El lenguaje común: costo por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El número que conecta la factura con 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Un total de factura no dice si vas bien o mal: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«Gastamos $10.000 este mes» — ¿es mucho o poco?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«Gastamos $0,002 por trámite de pensión procesado» — eso SÍ se puede comparar, seguir y mejorar.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Unit economics = costo cloud ÷ unidad de negocio (por usuario, por transacción, por trámite).</a:t>
            </a:r>
          </a:p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1E7C3C"/>
                </a:solidFill>
                <a:latin typeface="Calibri"/>
              </a:rPr>
              <a:t>Permite crecer el negocio y que el costo unitario BAJE — el objetivo real de FinOps.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920240"/>
            <a:ext cx="4846320" cy="3291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wrap="square"/>
          <a:lstStyle/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costo por unidad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gasto cloud del mes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──────────────────</a:t>
            </a:r>
          </a:p>
          <a:p>
            <a:pPr algn="ctr">
              <a:spcBef>
                <a:spcPts val="0"/>
              </a:spcBef>
              <a:spcAft>
                <a:spcPts val="1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unidades de negocio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95959"/>
                </a:solidFill>
                <a:latin typeface="Calibri"/>
              </a:rPr>
              <a:t>(trámites, usuarios, transacciones…)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Cómo se organiza la facturación en Azure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 jerarquía que debes conocer para ver y asignar costos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Billing account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La cuenta de facturación (dónde llega la factura)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670048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Subscription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La suscripción: límite de facturación y de acceso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3602736"/>
            <a:ext cx="8321040" cy="777240"/>
          </a:xfrm>
          <a:prstGeom prst="roundRect">
            <a:avLst>
              <a:gd name="adj" fmla="val 6000"/>
            </a:avLst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Resource group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Agrupa recursos de un proyecto/carga (¡clave para costos!)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535424"/>
            <a:ext cx="7040880" cy="77724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Resource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El recurso que consume: VM, storage, base de datos…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Cada recurso hereda su lugar en esta jerarquía. Por eso, organizar bien suscripciones y grupos de recursos —y etiquetar (S2)— es lo que después te deja responder «¿cuánto gastó cada área?».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Cómo se cobra el consumo en Azure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Pago por uso: cada servicio tiene su medidor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Cómputo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VMs: por segundo/hora encendida y por tamaño (vCPU/RAM). Apagada ≠ gratis si reservas disco.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97480" cy="50292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Cómputo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92424" y="18288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Almacenamiento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Por GB/mes, por tipo (caliente/frío) y por operaciones. El dato viejo en caliente cuesta de más.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2424" y="1828800"/>
            <a:ext cx="2697480" cy="502920"/>
          </a:xfrm>
          <a:prstGeom prst="roundRect">
            <a:avLst>
              <a:gd name="adj" fmla="val 6000"/>
            </a:avLst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288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La ENTRADA suele ser gratis; la SALIDA de datos (egress) se cobra. Sorpresa común en la factura.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828800"/>
            <a:ext cx="2697480" cy="502920"/>
          </a:xfrm>
          <a:prstGeom prst="roundRect">
            <a:avLst>
              <a:gd name="adj" fmla="val 6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992" y="18288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Servicios PaaS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Bases de datos, funciones, IA: por transacción, por hora o por consumo. Leer el medidor de cada uno.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9992" y="1828800"/>
            <a:ext cx="2697480" cy="502920"/>
          </a:xfrm>
          <a:prstGeom prst="roundRect">
            <a:avLst>
              <a:gd name="adj" fmla="val 6000"/>
            </a:avLst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Servicios PaaS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Regla práctica: para cada recurso pregúntate qué MIDE su factura (tiempo, GB, operaciones, transacciones). Ahí están las palancas de optimización que veremos en la S4.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Azure Cost Management + Billing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 herramienta —gratuita— para ver, analizar y controlar el gasto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Cost Analysis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Explorar el gasto: por servicio, grupo, etiqueta, tiempo. La base de la visibilidad.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606040" cy="50292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Budgets y alertas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Poner límites y avisar cuando el gasto se acerca (lo veremos en la S3).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28800"/>
            <a:ext cx="2606040" cy="50292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Advisor (costos)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Recomendaciones de ahorro de Azure (rightsizing, recursos ociosos — S4).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606040" cy="502920"/>
          </a:xfrm>
          <a:prstGeom prst="roundRect">
            <a:avLst>
              <a:gd name="adj" fmla="val 6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18288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Exports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Sacar los datos de costo a CSV/Storage para análisis y reportes.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828800"/>
            <a:ext cx="2606040" cy="502920"/>
          </a:xfrm>
          <a:prstGeom prst="roundRect">
            <a:avLst>
              <a:gd name="adj" fmla="val 6000"/>
            </a:avLst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Cost Management NO cuesta extra: viene con tu suscripción. Es lo primero que abre un practicante de FinOps cada mañana. Hoy en el lab empiezas por Cost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La regla de oro de la Sesión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Con la que arranca todo el resto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103120"/>
            <a:ext cx="9601200" cy="155448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457200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1">
                <a:solidFill>
                  <a:srgbClr val="FFFFFF"/>
                </a:solidFill>
                <a:latin typeface="Calibri"/>
              </a:rPr>
              <a:t>«No puedes optimizar —ni gobernar, ni presupuestar— lo que no puedes ver. La visibilidad del costo es el cimiento de FinOps.»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Por eso INFORMAR es la primera fase del framework.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681728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Hoy consigues visibilidad; la S2 la hace útil con etiquetas y asignación.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5248656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Sin este cimiento, presupuestar (S3) y optimizar (S4) son adivinar.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Laboratorio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Tu primer contacto con los costos en Azure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2024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91440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Activa y explora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Activas tu cuenta Azure for Students y recorres el portal y Cost Management.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520440" cy="59436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Parte 1 · 20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91440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Estima con la calculadora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Con la Pricing Calculator estimas el costo de una pequeña arquitectura y ves sus palancas.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520440" cy="59436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Parte 2 · 25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92024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91440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Ve tu gasto real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Despliegas un recurso mínimo y lo ubicas en Cost Analysis; interpretas el desglose.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920240"/>
            <a:ext cx="3520440" cy="594360"/>
          </a:xfrm>
          <a:prstGeom prst="roundRect">
            <a:avLst>
              <a:gd name="adj" fmla="val 6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Parte 3 · 15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Requisito: tu cuenta Azure for Students activa (correo académico que te da EAN, $100 de crédito, sin tarjeta). El crédito NO se gasta con la calculadora ni por explorar; solo si dejas recursos encendidos — al final del lab los apagas.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Puente a la Sesión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Ya ves el gasto total — falta saber de QUIÉN es cada peso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103120"/>
            <a:ext cx="9601200" cy="14630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1">
                <a:solidFill>
                  <a:srgbClr val="FFFFFF"/>
                </a:solidFill>
                <a:latin typeface="Calibri"/>
              </a:rPr>
              <a:t>Ver el total es el primer paso. Pero «gastamos X» no basta: ¿qué área, qué proyecto, qué ambiente? La S2 responde eso con ETIQUETADO y asignación de costos (showback/chargeback).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02336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Hoy: visibilidad del gasto (Cost Analysis) y el modelo de facturación.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5720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S2: etiquetas, organización de recursos y repartir el costo por área.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512064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Tarea: activa tu cuenta y trae al menos un recurso desplegado para etiquetarlo.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